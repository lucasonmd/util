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F23361E0-7D5B-83EA-EEAE-10B82F80340F}">
          <p14:sldIdLst>
            <p14:sldId id="256"/>
          </p14:sldIdLst>
        </p14:section>
        <p14:section name="전체 구조" id="{82CAA9DE-FF86-0BA5-F470-D85E6F26122B}">
          <p14:sldIdLst>
            <p14:sldId id="257"/>
          </p14:sldIdLst>
        </p14:section>
        <p14:section name="모듈별 상세" id="{59681459-6448-F9E9-F68F-A2E0AEB9187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NGVA 외 인터페이스" id="{7C8D6E7B-40B8-DFD0-E6FD-46ABAF591D67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13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NGVA 데이터 교환 구조 (EQP08 - EQP09)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NGVA 데이터 교환 구조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3"/>
                </a:solidFill>
              </a:rPr>
              <a:t>EQP08와 EQP09 사이의 데이터 종류, 모듈, 토픽</a:t>
            </a:r>
            <a:endParaRPr lang="en-US" sz="1600" dirty="0"/>
          </a:p>
        </p:txBody>
      </p:sp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1480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대상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EQP08,  EQP09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범위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NGVA 모듈 11종,  NGVA 외 모듈 3종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기준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NGVA Data Model v1.1 (Draft) RMDP</a:t>
                      </a:r>
                      <a:endParaRPr lang="en-US" sz="1300" dirty="0"/>
                    </a:p>
                  </a:txBody>
                  <a:tcPr marL="18288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1  전체 데이터 교환 구조</a:t>
            </a:r>
            <a:endParaRPr lang="en-US" sz="2200" dirty="0"/>
          </a:p>
        </p:txBody>
      </p:sp>
      <p:sp>
        <p:nvSpPr>
          <p:cNvPr id="3" name="Equipment 2"/>
          <p:cNvSpPr/>
          <p:nvPr/>
        </p:nvSpPr>
        <p:spPr>
          <a:xfrm>
            <a:off x="457200" y="1005840"/>
            <a:ext cx="2834640" cy="5394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45720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5" name="Equipment 4"/>
          <p:cNvSpPr/>
          <p:nvPr/>
        </p:nvSpPr>
        <p:spPr>
          <a:xfrm>
            <a:off x="8897112" y="1005840"/>
            <a:ext cx="2834640" cy="5394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8897112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7" name="Text 6"/>
          <p:cNvSpPr txBox="1"/>
          <p:nvPr/>
        </p:nvSpPr>
        <p:spPr>
          <a:xfrm>
            <a:off x="3291840" y="1005840"/>
            <a:ext cx="5605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데이터 종류</a:t>
            </a:r>
            <a:endParaRPr lang="en-US" sz="1100" dirty="0"/>
          </a:p>
        </p:txBody>
      </p:sp>
      <p:sp>
        <p:nvSpPr>
          <p:cNvPr id="8" name="Module 7"/>
          <p:cNvSpPr/>
          <p:nvPr/>
        </p:nvSpPr>
        <p:spPr>
          <a:xfrm>
            <a:off x="594360" y="15270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8"/>
          <p:cNvSpPr txBox="1"/>
          <p:nvPr/>
        </p:nvSpPr>
        <p:spPr>
          <a:xfrm>
            <a:off x="594360" y="15270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Vehicle_Configuration</a:t>
            </a:r>
            <a:endParaRPr lang="en-US" sz="1100" dirty="0"/>
          </a:p>
        </p:txBody>
      </p:sp>
      <p:sp>
        <p:nvSpPr>
          <p:cNvPr id="10" name="Module 9"/>
          <p:cNvSpPr/>
          <p:nvPr/>
        </p:nvSpPr>
        <p:spPr>
          <a:xfrm>
            <a:off x="9034272" y="15270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10"/>
          <p:cNvSpPr txBox="1"/>
          <p:nvPr/>
        </p:nvSpPr>
        <p:spPr>
          <a:xfrm>
            <a:off x="9034272" y="15270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Vehicle_Configuration</a:t>
            </a:r>
            <a:endParaRPr lang="en-US" sz="1100" dirty="0"/>
          </a:p>
        </p:txBody>
      </p:sp>
      <p:sp>
        <p:nvSpPr>
          <p:cNvPr id="12" name="Flow 11"/>
          <p:cNvSpPr/>
          <p:nvPr/>
        </p:nvSpPr>
        <p:spPr>
          <a:xfrm>
            <a:off x="3154680" y="16664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3" name="Flow 12"/>
          <p:cNvSpPr/>
          <p:nvPr/>
        </p:nvSpPr>
        <p:spPr>
          <a:xfrm>
            <a:off x="7786116" y="16664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4448556" y="15293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리소스 등록</a:t>
            </a:r>
            <a:endParaRPr lang="en-US" sz="1200" dirty="0"/>
          </a:p>
        </p:txBody>
      </p:sp>
      <p:sp>
        <p:nvSpPr>
          <p:cNvPr id="15" name="Module 14"/>
          <p:cNvSpPr/>
          <p:nvPr/>
        </p:nvSpPr>
        <p:spPr>
          <a:xfrm>
            <a:off x="594360" y="18699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594360" y="18699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Power</a:t>
            </a:r>
            <a:endParaRPr lang="en-US" sz="1100" dirty="0"/>
          </a:p>
        </p:txBody>
      </p:sp>
      <p:sp>
        <p:nvSpPr>
          <p:cNvPr id="17" name="Module 16"/>
          <p:cNvSpPr/>
          <p:nvPr/>
        </p:nvSpPr>
        <p:spPr>
          <a:xfrm>
            <a:off x="9034272" y="18699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9034272" y="18699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Power</a:t>
            </a:r>
            <a:endParaRPr lang="en-US" sz="1100" dirty="0"/>
          </a:p>
        </p:txBody>
      </p:sp>
      <p:sp>
        <p:nvSpPr>
          <p:cNvPr id="19" name="Flow 18"/>
          <p:cNvSpPr/>
          <p:nvPr/>
        </p:nvSpPr>
        <p:spPr>
          <a:xfrm>
            <a:off x="3154680" y="20093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0" name="Flow 19"/>
          <p:cNvSpPr/>
          <p:nvPr/>
        </p:nvSpPr>
        <p:spPr>
          <a:xfrm>
            <a:off x="7786116" y="20093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20"/>
          <p:cNvSpPr txBox="1"/>
          <p:nvPr/>
        </p:nvSpPr>
        <p:spPr>
          <a:xfrm>
            <a:off x="4448556" y="18722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장비 전원 제어</a:t>
            </a:r>
            <a:endParaRPr lang="en-US" sz="1200" dirty="0"/>
          </a:p>
        </p:txBody>
      </p:sp>
      <p:sp>
        <p:nvSpPr>
          <p:cNvPr id="22" name="Module 21"/>
          <p:cNvSpPr/>
          <p:nvPr/>
        </p:nvSpPr>
        <p:spPr>
          <a:xfrm>
            <a:off x="594360" y="22128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2"/>
          <p:cNvSpPr txBox="1"/>
          <p:nvPr/>
        </p:nvSpPr>
        <p:spPr>
          <a:xfrm>
            <a:off x="594360" y="22128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Usage_And_Condition_Monitoring</a:t>
            </a:r>
            <a:endParaRPr lang="en-US" sz="1100" dirty="0"/>
          </a:p>
        </p:txBody>
      </p:sp>
      <p:sp>
        <p:nvSpPr>
          <p:cNvPr id="24" name="Module 23"/>
          <p:cNvSpPr/>
          <p:nvPr/>
        </p:nvSpPr>
        <p:spPr>
          <a:xfrm>
            <a:off x="9034272" y="22128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4"/>
          <p:cNvSpPr txBox="1"/>
          <p:nvPr/>
        </p:nvSpPr>
        <p:spPr>
          <a:xfrm>
            <a:off x="9034272" y="22128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Usage_And_Condition_Monitoring</a:t>
            </a:r>
            <a:endParaRPr lang="en-US" sz="1100" dirty="0"/>
          </a:p>
        </p:txBody>
      </p:sp>
      <p:sp>
        <p:nvSpPr>
          <p:cNvPr id="26" name="Flow 25"/>
          <p:cNvSpPr/>
          <p:nvPr/>
        </p:nvSpPr>
        <p:spPr>
          <a:xfrm>
            <a:off x="3154680" y="23522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7" name="Flow 26"/>
          <p:cNvSpPr/>
          <p:nvPr/>
        </p:nvSpPr>
        <p:spPr>
          <a:xfrm>
            <a:off x="7786116" y="23522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4448556" y="22151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고장 정보(PBIT, CBIT, IBIT) / 점검 요청</a:t>
            </a:r>
            <a:endParaRPr lang="en-US" sz="1200" dirty="0"/>
          </a:p>
        </p:txBody>
      </p:sp>
      <p:sp>
        <p:nvSpPr>
          <p:cNvPr id="29" name="Module 28"/>
          <p:cNvSpPr/>
          <p:nvPr/>
        </p:nvSpPr>
        <p:spPr>
          <a:xfrm>
            <a:off x="594360" y="25557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594360" y="25557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Alarms</a:t>
            </a:r>
            <a:endParaRPr lang="en-US" sz="1100" dirty="0"/>
          </a:p>
        </p:txBody>
      </p:sp>
      <p:sp>
        <p:nvSpPr>
          <p:cNvPr id="31" name="Module 30"/>
          <p:cNvSpPr/>
          <p:nvPr/>
        </p:nvSpPr>
        <p:spPr>
          <a:xfrm>
            <a:off x="9034272" y="25557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9034272" y="25557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Alarms</a:t>
            </a:r>
            <a:endParaRPr lang="en-US" sz="1100" dirty="0"/>
          </a:p>
        </p:txBody>
      </p:sp>
      <p:sp>
        <p:nvSpPr>
          <p:cNvPr id="33" name="Flow 32"/>
          <p:cNvSpPr/>
          <p:nvPr/>
        </p:nvSpPr>
        <p:spPr>
          <a:xfrm>
            <a:off x="3154680" y="26951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34" name="Flow 33"/>
          <p:cNvSpPr/>
          <p:nvPr/>
        </p:nvSpPr>
        <p:spPr>
          <a:xfrm>
            <a:off x="7786116" y="26951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4"/>
          <p:cNvSpPr txBox="1"/>
          <p:nvPr/>
        </p:nvSpPr>
        <p:spPr>
          <a:xfrm>
            <a:off x="4448556" y="25580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고장 경보(CBIT)</a:t>
            </a:r>
            <a:endParaRPr lang="en-US" sz="1200" dirty="0"/>
          </a:p>
        </p:txBody>
      </p:sp>
      <p:sp>
        <p:nvSpPr>
          <p:cNvPr id="36" name="Module 35"/>
          <p:cNvSpPr/>
          <p:nvPr/>
        </p:nvSpPr>
        <p:spPr>
          <a:xfrm>
            <a:off x="594360" y="28986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6"/>
          <p:cNvSpPr txBox="1"/>
          <p:nvPr/>
        </p:nvSpPr>
        <p:spPr>
          <a:xfrm>
            <a:off x="594360" y="28986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Mount</a:t>
            </a:r>
            <a:endParaRPr lang="en-US" sz="1100" dirty="0"/>
          </a:p>
        </p:txBody>
      </p:sp>
      <p:sp>
        <p:nvSpPr>
          <p:cNvPr id="38" name="Module 37"/>
          <p:cNvSpPr/>
          <p:nvPr/>
        </p:nvSpPr>
        <p:spPr>
          <a:xfrm>
            <a:off x="9034272" y="28986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8"/>
          <p:cNvSpPr txBox="1"/>
          <p:nvPr/>
        </p:nvSpPr>
        <p:spPr>
          <a:xfrm>
            <a:off x="9034272" y="28986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Mount</a:t>
            </a:r>
            <a:endParaRPr lang="en-US" sz="1100" dirty="0"/>
          </a:p>
        </p:txBody>
      </p:sp>
      <p:sp>
        <p:nvSpPr>
          <p:cNvPr id="40" name="Flow 39"/>
          <p:cNvSpPr/>
          <p:nvPr/>
        </p:nvSpPr>
        <p:spPr>
          <a:xfrm>
            <a:off x="3154680" y="30380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41" name="Flow 40"/>
          <p:cNvSpPr/>
          <p:nvPr/>
        </p:nvSpPr>
        <p:spPr>
          <a:xfrm>
            <a:off x="7786116" y="30380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4448556" y="29009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EQP01/EQP02/EQP03/EQP04 자세 정보</a:t>
            </a:r>
            <a:endParaRPr lang="en-US" sz="1200" dirty="0"/>
          </a:p>
        </p:txBody>
      </p:sp>
      <p:sp>
        <p:nvSpPr>
          <p:cNvPr id="43" name="Module 42"/>
          <p:cNvSpPr/>
          <p:nvPr/>
        </p:nvSpPr>
        <p:spPr>
          <a:xfrm>
            <a:off x="594360" y="32415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594360" y="32415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LRF</a:t>
            </a:r>
            <a:endParaRPr lang="en-US" sz="1100" dirty="0"/>
          </a:p>
        </p:txBody>
      </p:sp>
      <p:sp>
        <p:nvSpPr>
          <p:cNvPr id="45" name="Module 44"/>
          <p:cNvSpPr/>
          <p:nvPr/>
        </p:nvSpPr>
        <p:spPr>
          <a:xfrm>
            <a:off x="9034272" y="32415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9034272" y="32415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LRF</a:t>
            </a:r>
            <a:endParaRPr lang="en-US" sz="1100" dirty="0"/>
          </a:p>
        </p:txBody>
      </p:sp>
      <p:sp>
        <p:nvSpPr>
          <p:cNvPr id="47" name="Flow 46"/>
          <p:cNvSpPr/>
          <p:nvPr/>
        </p:nvSpPr>
        <p:spPr>
          <a:xfrm>
            <a:off x="3154680" y="33809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48" name="Flow 47"/>
          <p:cNvSpPr/>
          <p:nvPr/>
        </p:nvSpPr>
        <p:spPr>
          <a:xfrm>
            <a:off x="7786116" y="33809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48"/>
          <p:cNvSpPr txBox="1"/>
          <p:nvPr/>
        </p:nvSpPr>
        <p:spPr>
          <a:xfrm>
            <a:off x="4448556" y="32438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EQP07 정보</a:t>
            </a:r>
            <a:endParaRPr lang="en-US" sz="1200" dirty="0"/>
          </a:p>
        </p:txBody>
      </p:sp>
      <p:sp>
        <p:nvSpPr>
          <p:cNvPr id="50" name="Module 49"/>
          <p:cNvSpPr/>
          <p:nvPr/>
        </p:nvSpPr>
        <p:spPr>
          <a:xfrm>
            <a:off x="594360" y="35844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1" name="Text 50"/>
          <p:cNvSpPr txBox="1"/>
          <p:nvPr/>
        </p:nvSpPr>
        <p:spPr>
          <a:xfrm>
            <a:off x="594360" y="35844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Navigation_Reference</a:t>
            </a:r>
            <a:endParaRPr lang="en-US" sz="1100" dirty="0"/>
          </a:p>
        </p:txBody>
      </p:sp>
      <p:sp>
        <p:nvSpPr>
          <p:cNvPr id="52" name="Module 51"/>
          <p:cNvSpPr/>
          <p:nvPr/>
        </p:nvSpPr>
        <p:spPr>
          <a:xfrm>
            <a:off x="9034272" y="35844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3" name="Text 52"/>
          <p:cNvSpPr txBox="1"/>
          <p:nvPr/>
        </p:nvSpPr>
        <p:spPr>
          <a:xfrm>
            <a:off x="9034272" y="35844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Navigation_Reference</a:t>
            </a:r>
            <a:endParaRPr lang="en-US" sz="1100" dirty="0"/>
          </a:p>
        </p:txBody>
      </p:sp>
      <p:sp>
        <p:nvSpPr>
          <p:cNvPr id="54" name="Flow 53"/>
          <p:cNvSpPr/>
          <p:nvPr/>
        </p:nvSpPr>
        <p:spPr>
          <a:xfrm>
            <a:off x="3154680" y="37238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55" name="Flow 54"/>
          <p:cNvSpPr/>
          <p:nvPr/>
        </p:nvSpPr>
        <p:spPr>
          <a:xfrm>
            <a:off x="7786116" y="37238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4448556" y="35867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차량 자세 등 항법 정보</a:t>
            </a:r>
            <a:endParaRPr lang="en-US" sz="1200" dirty="0"/>
          </a:p>
        </p:txBody>
      </p:sp>
      <p:sp>
        <p:nvSpPr>
          <p:cNvPr id="57" name="Module 56"/>
          <p:cNvSpPr/>
          <p:nvPr/>
        </p:nvSpPr>
        <p:spPr>
          <a:xfrm>
            <a:off x="594360" y="39273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8" name="Text 57"/>
          <p:cNvSpPr txBox="1"/>
          <p:nvPr/>
        </p:nvSpPr>
        <p:spPr>
          <a:xfrm>
            <a:off x="594360" y="39273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Tactical_Sensor</a:t>
            </a:r>
            <a:endParaRPr lang="en-US" sz="1100" dirty="0"/>
          </a:p>
        </p:txBody>
      </p:sp>
      <p:sp>
        <p:nvSpPr>
          <p:cNvPr id="59" name="Module 58"/>
          <p:cNvSpPr/>
          <p:nvPr/>
        </p:nvSpPr>
        <p:spPr>
          <a:xfrm>
            <a:off x="9034272" y="39273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0" name="Text 59"/>
          <p:cNvSpPr txBox="1"/>
          <p:nvPr/>
        </p:nvSpPr>
        <p:spPr>
          <a:xfrm>
            <a:off x="9034272" y="39273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Tactical_Sensor</a:t>
            </a:r>
            <a:endParaRPr lang="en-US" sz="1100" dirty="0"/>
          </a:p>
        </p:txBody>
      </p:sp>
      <p:sp>
        <p:nvSpPr>
          <p:cNvPr id="61" name="Flow 60"/>
          <p:cNvSpPr/>
          <p:nvPr/>
        </p:nvSpPr>
        <p:spPr>
          <a:xfrm>
            <a:off x="3154680" y="40667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62" name="Flow 61"/>
          <p:cNvSpPr/>
          <p:nvPr/>
        </p:nvSpPr>
        <p:spPr>
          <a:xfrm>
            <a:off x="7786116" y="40667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63" name="Text 62"/>
          <p:cNvSpPr txBox="1"/>
          <p:nvPr/>
        </p:nvSpPr>
        <p:spPr>
          <a:xfrm>
            <a:off x="4448556" y="39296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EQP03 EQP06 탐지</a:t>
            </a:r>
            <a:endParaRPr lang="en-US" sz="1200" dirty="0"/>
          </a:p>
        </p:txBody>
      </p:sp>
      <p:sp>
        <p:nvSpPr>
          <p:cNvPr id="64" name="Module 63"/>
          <p:cNvSpPr/>
          <p:nvPr/>
        </p:nvSpPr>
        <p:spPr>
          <a:xfrm>
            <a:off x="594360" y="42702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5" name="Text 64"/>
          <p:cNvSpPr txBox="1"/>
          <p:nvPr/>
        </p:nvSpPr>
        <p:spPr>
          <a:xfrm>
            <a:off x="594360" y="42702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Laser_Warning_System</a:t>
            </a:r>
            <a:endParaRPr lang="en-US" sz="1100" dirty="0"/>
          </a:p>
        </p:txBody>
      </p:sp>
      <p:sp>
        <p:nvSpPr>
          <p:cNvPr id="66" name="Module 65"/>
          <p:cNvSpPr/>
          <p:nvPr/>
        </p:nvSpPr>
        <p:spPr>
          <a:xfrm>
            <a:off x="9034272" y="42702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7" name="Text 66"/>
          <p:cNvSpPr txBox="1"/>
          <p:nvPr/>
        </p:nvSpPr>
        <p:spPr>
          <a:xfrm>
            <a:off x="9034272" y="42702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Laser_Warning_System</a:t>
            </a:r>
            <a:endParaRPr lang="en-US" sz="1100" dirty="0"/>
          </a:p>
        </p:txBody>
      </p:sp>
      <p:sp>
        <p:nvSpPr>
          <p:cNvPr id="68" name="Flow 67"/>
          <p:cNvSpPr/>
          <p:nvPr/>
        </p:nvSpPr>
        <p:spPr>
          <a:xfrm>
            <a:off x="3154680" y="44096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69" name="Flow 68"/>
          <p:cNvSpPr/>
          <p:nvPr/>
        </p:nvSpPr>
        <p:spPr>
          <a:xfrm>
            <a:off x="7786116" y="44096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0" name="Text 69"/>
          <p:cNvSpPr txBox="1"/>
          <p:nvPr/>
        </p:nvSpPr>
        <p:spPr>
          <a:xfrm>
            <a:off x="4448556" y="42725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EQP05 탐지 정보</a:t>
            </a:r>
            <a:endParaRPr lang="en-US" sz="1200" dirty="0"/>
          </a:p>
        </p:txBody>
      </p:sp>
      <p:sp>
        <p:nvSpPr>
          <p:cNvPr id="71" name="Module 70"/>
          <p:cNvSpPr/>
          <p:nvPr/>
        </p:nvSpPr>
        <p:spPr>
          <a:xfrm>
            <a:off x="594360" y="46131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2" name="Text 71"/>
          <p:cNvSpPr txBox="1"/>
          <p:nvPr/>
        </p:nvSpPr>
        <p:spPr>
          <a:xfrm>
            <a:off x="594360" y="46131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Video</a:t>
            </a:r>
            <a:endParaRPr lang="en-US" sz="1100" dirty="0"/>
          </a:p>
        </p:txBody>
      </p:sp>
      <p:sp>
        <p:nvSpPr>
          <p:cNvPr id="73" name="Module 72"/>
          <p:cNvSpPr/>
          <p:nvPr/>
        </p:nvSpPr>
        <p:spPr>
          <a:xfrm>
            <a:off x="9034272" y="46131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4" name="Text 73"/>
          <p:cNvSpPr txBox="1"/>
          <p:nvPr/>
        </p:nvSpPr>
        <p:spPr>
          <a:xfrm>
            <a:off x="9034272" y="46131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Video</a:t>
            </a:r>
            <a:endParaRPr lang="en-US" sz="1100" dirty="0"/>
          </a:p>
        </p:txBody>
      </p:sp>
      <p:sp>
        <p:nvSpPr>
          <p:cNvPr id="75" name="Flow 74"/>
          <p:cNvSpPr/>
          <p:nvPr/>
        </p:nvSpPr>
        <p:spPr>
          <a:xfrm>
            <a:off x="3154680" y="47525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6" name="Flow 75"/>
          <p:cNvSpPr/>
          <p:nvPr/>
        </p:nvSpPr>
        <p:spPr>
          <a:xfrm>
            <a:off x="7786116" y="47525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7" name="Text 76"/>
          <p:cNvSpPr txBox="1"/>
          <p:nvPr/>
        </p:nvSpPr>
        <p:spPr>
          <a:xfrm>
            <a:off x="4448556" y="46154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상황인식 영상, EQP02 영상 설정</a:t>
            </a:r>
            <a:endParaRPr lang="en-US" sz="1200" dirty="0"/>
          </a:p>
        </p:txBody>
      </p:sp>
      <p:sp>
        <p:nvSpPr>
          <p:cNvPr id="78" name="Module 77"/>
          <p:cNvSpPr/>
          <p:nvPr/>
        </p:nvSpPr>
        <p:spPr>
          <a:xfrm>
            <a:off x="594360" y="49560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9" name="Text 78"/>
          <p:cNvSpPr txBox="1"/>
          <p:nvPr/>
        </p:nvSpPr>
        <p:spPr>
          <a:xfrm>
            <a:off x="594360" y="49560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HMI_Input_Devices</a:t>
            </a:r>
            <a:endParaRPr lang="en-US" sz="1100" dirty="0"/>
          </a:p>
        </p:txBody>
      </p:sp>
      <p:sp>
        <p:nvSpPr>
          <p:cNvPr id="80" name="Module 79"/>
          <p:cNvSpPr/>
          <p:nvPr/>
        </p:nvSpPr>
        <p:spPr>
          <a:xfrm>
            <a:off x="9034272" y="49560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1" name="Text 80"/>
          <p:cNvSpPr txBox="1"/>
          <p:nvPr/>
        </p:nvSpPr>
        <p:spPr>
          <a:xfrm>
            <a:off x="9034272" y="49560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HMI_Input_Devices</a:t>
            </a:r>
            <a:endParaRPr lang="en-US" sz="1100" dirty="0"/>
          </a:p>
        </p:txBody>
      </p:sp>
      <p:sp>
        <p:nvSpPr>
          <p:cNvPr id="82" name="Flow 81"/>
          <p:cNvSpPr/>
          <p:nvPr/>
        </p:nvSpPr>
        <p:spPr>
          <a:xfrm>
            <a:off x="3154680" y="50954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83" name="Flow 82"/>
          <p:cNvSpPr/>
          <p:nvPr/>
        </p:nvSpPr>
        <p:spPr>
          <a:xfrm>
            <a:off x="7786116" y="50954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84" name="Text 83"/>
          <p:cNvSpPr txBox="1"/>
          <p:nvPr/>
        </p:nvSpPr>
        <p:spPr>
          <a:xfrm>
            <a:off x="4448556" y="49583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핸들 등 EQP08 장착 장비 입력</a:t>
            </a:r>
            <a:endParaRPr lang="en-US" sz="1200" dirty="0"/>
          </a:p>
        </p:txBody>
      </p:sp>
      <p:sp>
        <p:nvSpPr>
          <p:cNvPr id="85" name="Module 84"/>
          <p:cNvSpPr/>
          <p:nvPr/>
        </p:nvSpPr>
        <p:spPr>
          <a:xfrm>
            <a:off x="594360" y="52989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6" name="Text 85"/>
          <p:cNvSpPr txBox="1"/>
          <p:nvPr/>
        </p:nvSpPr>
        <p:spPr>
          <a:xfrm>
            <a:off x="594360" y="52989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Access_Permissions</a:t>
            </a:r>
            <a:endParaRPr lang="en-US" sz="1100" dirty="0"/>
          </a:p>
        </p:txBody>
      </p:sp>
      <p:sp>
        <p:nvSpPr>
          <p:cNvPr id="87" name="Module 86"/>
          <p:cNvSpPr/>
          <p:nvPr/>
        </p:nvSpPr>
        <p:spPr>
          <a:xfrm>
            <a:off x="9034272" y="52989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8" name="Text 87"/>
          <p:cNvSpPr txBox="1"/>
          <p:nvPr/>
        </p:nvSpPr>
        <p:spPr>
          <a:xfrm>
            <a:off x="9034272" y="52989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Access_Permissions</a:t>
            </a:r>
            <a:endParaRPr lang="en-US" sz="1100" dirty="0"/>
          </a:p>
        </p:txBody>
      </p:sp>
      <p:sp>
        <p:nvSpPr>
          <p:cNvPr id="89" name="Flow 88"/>
          <p:cNvSpPr/>
          <p:nvPr/>
        </p:nvSpPr>
        <p:spPr>
          <a:xfrm>
            <a:off x="3154680" y="54383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90" name="Flow 89"/>
          <p:cNvSpPr/>
          <p:nvPr/>
        </p:nvSpPr>
        <p:spPr>
          <a:xfrm>
            <a:off x="7786116" y="54383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91" name="Text 90"/>
          <p:cNvSpPr txBox="1"/>
          <p:nvPr/>
        </p:nvSpPr>
        <p:spPr>
          <a:xfrm>
            <a:off x="4448556" y="53012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계정 관리 / 로그인</a:t>
            </a:r>
            <a:endParaRPr lang="en-US" sz="1200" dirty="0"/>
          </a:p>
        </p:txBody>
      </p:sp>
      <p:sp>
        <p:nvSpPr>
          <p:cNvPr id="92" name="Module 91"/>
          <p:cNvSpPr/>
          <p:nvPr/>
        </p:nvSpPr>
        <p:spPr>
          <a:xfrm>
            <a:off x="594360" y="56418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3" name="Text 92"/>
          <p:cNvSpPr txBox="1"/>
          <p:nvPr/>
        </p:nvSpPr>
        <p:spPr>
          <a:xfrm>
            <a:off x="594360" y="56418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Actuator</a:t>
            </a:r>
            <a:endParaRPr lang="en-US" sz="1100" dirty="0"/>
          </a:p>
        </p:txBody>
      </p:sp>
      <p:sp>
        <p:nvSpPr>
          <p:cNvPr id="94" name="Module 93"/>
          <p:cNvSpPr/>
          <p:nvPr/>
        </p:nvSpPr>
        <p:spPr>
          <a:xfrm>
            <a:off x="9034272" y="56418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5" name="Text 94"/>
          <p:cNvSpPr txBox="1"/>
          <p:nvPr/>
        </p:nvSpPr>
        <p:spPr>
          <a:xfrm>
            <a:off x="9034272" y="56418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Actuator</a:t>
            </a:r>
            <a:endParaRPr lang="en-US" sz="1100" dirty="0"/>
          </a:p>
        </p:txBody>
      </p:sp>
      <p:sp>
        <p:nvSpPr>
          <p:cNvPr id="96" name="Flow 95"/>
          <p:cNvSpPr/>
          <p:nvPr/>
        </p:nvSpPr>
        <p:spPr>
          <a:xfrm>
            <a:off x="3154680" y="57812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97" name="Flow 96"/>
          <p:cNvSpPr/>
          <p:nvPr/>
        </p:nvSpPr>
        <p:spPr>
          <a:xfrm>
            <a:off x="7786116" y="57812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98" name="Text 97"/>
          <p:cNvSpPr txBox="1"/>
          <p:nvPr/>
        </p:nvSpPr>
        <p:spPr>
          <a:xfrm>
            <a:off x="4448556" y="56441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양방향 제어 정보</a:t>
            </a:r>
            <a:endParaRPr lang="en-US" sz="1200" dirty="0"/>
          </a:p>
        </p:txBody>
      </p:sp>
      <p:sp>
        <p:nvSpPr>
          <p:cNvPr id="99" name="Module 98"/>
          <p:cNvSpPr/>
          <p:nvPr/>
        </p:nvSpPr>
        <p:spPr>
          <a:xfrm>
            <a:off x="594360" y="59847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0" name="Text 99"/>
          <p:cNvSpPr txBox="1"/>
          <p:nvPr/>
        </p:nvSpPr>
        <p:spPr>
          <a:xfrm>
            <a:off x="594360" y="59847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Sensors</a:t>
            </a:r>
            <a:endParaRPr lang="en-US" sz="1100" dirty="0"/>
          </a:p>
        </p:txBody>
      </p:sp>
      <p:sp>
        <p:nvSpPr>
          <p:cNvPr id="101" name="Module 100"/>
          <p:cNvSpPr/>
          <p:nvPr/>
        </p:nvSpPr>
        <p:spPr>
          <a:xfrm>
            <a:off x="9034272" y="5984748"/>
            <a:ext cx="2560320" cy="2788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2" name="Text 101"/>
          <p:cNvSpPr txBox="1"/>
          <p:nvPr/>
        </p:nvSpPr>
        <p:spPr>
          <a:xfrm>
            <a:off x="9034272" y="5984748"/>
            <a:ext cx="25603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Sensors</a:t>
            </a:r>
            <a:endParaRPr lang="en-US" sz="1100" dirty="0"/>
          </a:p>
        </p:txBody>
      </p:sp>
      <p:sp>
        <p:nvSpPr>
          <p:cNvPr id="103" name="Flow 102"/>
          <p:cNvSpPr/>
          <p:nvPr/>
        </p:nvSpPr>
        <p:spPr>
          <a:xfrm>
            <a:off x="3154680" y="61241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04" name="Flow 103"/>
          <p:cNvSpPr/>
          <p:nvPr/>
        </p:nvSpPr>
        <p:spPr>
          <a:xfrm>
            <a:off x="7786116" y="6124194"/>
            <a:ext cx="1248156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05" name="Text 104"/>
          <p:cNvSpPr txBox="1"/>
          <p:nvPr/>
        </p:nvSpPr>
        <p:spPr>
          <a:xfrm>
            <a:off x="4448556" y="598703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단방향 상태 정보</a:t>
            </a:r>
            <a:endParaRPr lang="en-US" sz="1200" dirty="0"/>
          </a:p>
        </p:txBody>
      </p:sp>
      <p:sp>
        <p:nvSpPr>
          <p:cNvPr id="10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2.1  Vehicle_Configuration</a:t>
            </a:r>
            <a:endParaRPr lang="en-US" sz="2200" dirty="0"/>
          </a:p>
        </p:txBody>
      </p:sp>
      <p:sp>
        <p:nvSpPr>
          <p:cNvPr id="3" name="Lifeline 105"/>
          <p:cNvSpPr/>
          <p:nvPr/>
        </p:nvSpPr>
        <p:spPr>
          <a:xfrm>
            <a:off x="1188720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106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107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108"/>
          <p:cNvSpPr/>
          <p:nvPr/>
        </p:nvSpPr>
        <p:spPr>
          <a:xfrm>
            <a:off x="11000232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109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110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111"/>
          <p:cNvSpPr/>
          <p:nvPr/>
        </p:nvSpPr>
        <p:spPr>
          <a:xfrm>
            <a:off x="457200" y="1554480"/>
            <a:ext cx="11274552" cy="1609344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112"/>
          <p:cNvSpPr/>
          <p:nvPr/>
        </p:nvSpPr>
        <p:spPr>
          <a:xfrm>
            <a:off x="457200" y="1554480"/>
            <a:ext cx="2224735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113"/>
          <p:cNvSpPr txBox="1"/>
          <p:nvPr/>
        </p:nvSpPr>
        <p:spPr>
          <a:xfrm>
            <a:off x="457200" y="1554480"/>
            <a:ext cx="2224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Vehicle_Configuration</a:t>
            </a:r>
            <a:endParaRPr lang="en-US" sz="1300" dirty="0"/>
          </a:p>
        </p:txBody>
      </p:sp>
      <p:sp>
        <p:nvSpPr>
          <p:cNvPr id="12" name="Text 114"/>
          <p:cNvSpPr txBox="1"/>
          <p:nvPr/>
        </p:nvSpPr>
        <p:spPr>
          <a:xfrm>
            <a:off x="2846527" y="1554480"/>
            <a:ext cx="86840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리소스 등록</a:t>
            </a:r>
            <a:endParaRPr lang="en-US" sz="1300" dirty="0"/>
          </a:p>
        </p:txBody>
      </p:sp>
      <p:sp>
        <p:nvSpPr>
          <p:cNvPr id="13" name="Text 115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Vehicle_Configuration__Registry_Service__requestResourceId</a:t>
            </a:r>
            <a:endParaRPr lang="en-US" sz="1300" dirty="0"/>
          </a:p>
        </p:txBody>
      </p:sp>
      <p:sp>
        <p:nvSpPr>
          <p:cNvPr id="14" name="Text 116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ResourceID 요청 (UUID 기준)</a:t>
            </a:r>
            <a:endParaRPr lang="en-US" sz="1200" dirty="0"/>
          </a:p>
        </p:txBody>
      </p:sp>
      <p:sp>
        <p:nvSpPr>
          <p:cNvPr id="15" name="Flow 117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18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A_uuid</a:t>
            </a:r>
            <a:endParaRPr lang="en-US" sz="1100" dirty="0"/>
          </a:p>
        </p:txBody>
      </p:sp>
      <p:sp>
        <p:nvSpPr>
          <p:cNvPr id="17" name="Text 119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Vehicle_Configuration__Actual_Resource__supplyResourceId</a:t>
            </a:r>
            <a:endParaRPr lang="en-US" sz="1300" dirty="0"/>
          </a:p>
        </p:txBody>
      </p:sp>
      <p:sp>
        <p:nvSpPr>
          <p:cNvPr id="18" name="Text 120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ResourceID 부여</a:t>
            </a:r>
            <a:endParaRPr lang="en-US" sz="1200" dirty="0"/>
          </a:p>
        </p:txBody>
      </p:sp>
      <p:sp>
        <p:nvSpPr>
          <p:cNvPr id="19" name="Flow 121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0" name="Text 122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A_uuid, A_resourceId, A_descriptor</a:t>
            </a:r>
            <a:endParaRPr lang="en-US" sz="1100" dirty="0"/>
          </a:p>
        </p:txBody>
      </p:sp>
      <p:sp>
        <p:nvSpPr>
          <p:cNvPr id="21" name="Flow 123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24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3" name="Flow 125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Text 126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2.2  Power</a:t>
            </a:r>
            <a:endParaRPr lang="en-US" sz="2200" dirty="0"/>
          </a:p>
        </p:txBody>
      </p:sp>
      <p:sp>
        <p:nvSpPr>
          <p:cNvPr id="3" name="Lifeline 127"/>
          <p:cNvSpPr/>
          <p:nvPr/>
        </p:nvSpPr>
        <p:spPr>
          <a:xfrm>
            <a:off x="1188720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128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129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130"/>
          <p:cNvSpPr/>
          <p:nvPr/>
        </p:nvSpPr>
        <p:spPr>
          <a:xfrm>
            <a:off x="11000232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131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132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133"/>
          <p:cNvSpPr/>
          <p:nvPr/>
        </p:nvSpPr>
        <p:spPr>
          <a:xfrm>
            <a:off x="457200" y="1554480"/>
            <a:ext cx="11274552" cy="1609344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134"/>
          <p:cNvSpPr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135"/>
          <p:cNvSpPr txBox="1"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Power</a:t>
            </a:r>
            <a:endParaRPr lang="en-US" sz="1300" dirty="0"/>
          </a:p>
        </p:txBody>
      </p:sp>
      <p:sp>
        <p:nvSpPr>
          <p:cNvPr id="12" name="Text 136"/>
          <p:cNvSpPr txBox="1"/>
          <p:nvPr/>
        </p:nvSpPr>
        <p:spPr>
          <a:xfrm>
            <a:off x="1388364" y="1554480"/>
            <a:ext cx="10142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장비 전원 제어</a:t>
            </a:r>
            <a:endParaRPr lang="en-US" sz="1300" dirty="0"/>
          </a:p>
        </p:txBody>
      </p:sp>
      <p:sp>
        <p:nvSpPr>
          <p:cNvPr id="13" name="Text 137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Power__Channel__setChannelOperatingMode</a:t>
            </a:r>
            <a:endParaRPr lang="en-US" sz="1300" dirty="0"/>
          </a:p>
        </p:txBody>
      </p:sp>
      <p:sp>
        <p:nvSpPr>
          <p:cNvPr id="14" name="Text 138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채널 동작 모드 설정</a:t>
            </a:r>
            <a:endParaRPr lang="en-US" sz="1200" dirty="0"/>
          </a:p>
        </p:txBody>
      </p:sp>
      <p:sp>
        <p:nvSpPr>
          <p:cNvPr id="15" name="Flow 139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0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A_setMode</a:t>
            </a:r>
            <a:endParaRPr lang="en-US" sz="1100" dirty="0"/>
          </a:p>
        </p:txBody>
      </p:sp>
      <p:sp>
        <p:nvSpPr>
          <p:cNvPr id="17" name="Text 141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Power__Channel</a:t>
            </a:r>
            <a:endParaRPr lang="en-US" sz="1300" dirty="0"/>
          </a:p>
        </p:txBody>
      </p:sp>
      <p:sp>
        <p:nvSpPr>
          <p:cNvPr id="18" name="Text 142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채널 상태</a:t>
            </a:r>
            <a:endParaRPr lang="en-US" sz="1200" dirty="0"/>
          </a:p>
        </p:txBody>
      </p:sp>
      <p:sp>
        <p:nvSpPr>
          <p:cNvPr id="19" name="Flow 143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144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A_channelNumber, A_channelMode, A_current, A_voltage, A_overcurrent, A_overvoltage</a:t>
            </a:r>
            <a:endParaRPr lang="en-US" sz="1100" dirty="0"/>
          </a:p>
        </p:txBody>
      </p:sp>
      <p:sp>
        <p:nvSpPr>
          <p:cNvPr id="21" name="Flow 145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46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3" name="Flow 147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Text 148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2.3  Usage_And_Condition_Monitoring</a:t>
            </a:r>
            <a:endParaRPr lang="en-US" sz="2200" dirty="0"/>
          </a:p>
        </p:txBody>
      </p:sp>
      <p:sp>
        <p:nvSpPr>
          <p:cNvPr id="3" name="Lifeline 149"/>
          <p:cNvSpPr/>
          <p:nvPr/>
        </p:nvSpPr>
        <p:spPr>
          <a:xfrm>
            <a:off x="1188720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150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151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152"/>
          <p:cNvSpPr/>
          <p:nvPr/>
        </p:nvSpPr>
        <p:spPr>
          <a:xfrm>
            <a:off x="11000232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153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154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155"/>
          <p:cNvSpPr/>
          <p:nvPr/>
        </p:nvSpPr>
        <p:spPr>
          <a:xfrm>
            <a:off x="457200" y="1554480"/>
            <a:ext cx="11274552" cy="219456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156"/>
          <p:cNvSpPr/>
          <p:nvPr/>
        </p:nvSpPr>
        <p:spPr>
          <a:xfrm>
            <a:off x="457200" y="1554480"/>
            <a:ext cx="304495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157"/>
          <p:cNvSpPr txBox="1"/>
          <p:nvPr/>
        </p:nvSpPr>
        <p:spPr>
          <a:xfrm>
            <a:off x="457200" y="1554480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Usage_And_Condition_Monitoring</a:t>
            </a:r>
            <a:endParaRPr lang="en-US" sz="1300" dirty="0"/>
          </a:p>
        </p:txBody>
      </p:sp>
      <p:sp>
        <p:nvSpPr>
          <p:cNvPr id="12" name="Text 158"/>
          <p:cNvSpPr txBox="1"/>
          <p:nvPr/>
        </p:nvSpPr>
        <p:spPr>
          <a:xfrm>
            <a:off x="3666744" y="1554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고장 정보(PBIT, CBIT, IBIT) / 점검 요청</a:t>
            </a:r>
            <a:endParaRPr lang="en-US" sz="1300" dirty="0"/>
          </a:p>
        </p:txBody>
      </p:sp>
      <p:sp>
        <p:nvSpPr>
          <p:cNvPr id="13" name="Text 159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Usage_And_Condition_Monitoring__Monitored_Entity__runBIT</a:t>
            </a:r>
            <a:endParaRPr lang="en-US" sz="1300" dirty="0"/>
          </a:p>
        </p:txBody>
      </p:sp>
      <p:sp>
        <p:nvSpPr>
          <p:cNvPr id="14" name="Text 160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BIT 수행 요청</a:t>
            </a:r>
            <a:endParaRPr lang="en-US" sz="1200" dirty="0"/>
          </a:p>
        </p:txBody>
      </p:sp>
      <p:sp>
        <p:nvSpPr>
          <p:cNvPr id="15" name="Flow 161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62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A_type (C_BIT / P_BIT / I_BIT)</a:t>
            </a:r>
            <a:endParaRPr lang="en-US" sz="1100" dirty="0"/>
          </a:p>
        </p:txBody>
      </p:sp>
      <p:sp>
        <p:nvSpPr>
          <p:cNvPr id="17" name="Text 163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Usage_And_Condition_Monitoring__Monitored_Entity</a:t>
            </a:r>
            <a:endParaRPr lang="en-US" sz="1300" dirty="0"/>
          </a:p>
        </p:txBody>
      </p:sp>
      <p:sp>
        <p:nvSpPr>
          <p:cNvPr id="18" name="Text 164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감시 대상의 건전성 상태</a:t>
            </a:r>
            <a:endParaRPr lang="en-US" sz="1200" dirty="0"/>
          </a:p>
        </p:txBody>
      </p:sp>
      <p:sp>
        <p:nvSpPr>
          <p:cNvPr id="19" name="Flow 165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166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A_healthStatus (OPERATIONAL / DEGRADED / NOT_OPERATIONAL), A_currentState</a:t>
            </a:r>
            <a:endParaRPr lang="en-US" sz="1100" dirty="0"/>
          </a:p>
        </p:txBody>
      </p:sp>
      <p:sp>
        <p:nvSpPr>
          <p:cNvPr id="21" name="Text 167"/>
          <p:cNvSpPr txBox="1"/>
          <p:nvPr/>
        </p:nvSpPr>
        <p:spPr>
          <a:xfrm>
            <a:off x="1417320" y="31455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Usage_And_Condition_Monitoring__Failure_Event</a:t>
            </a:r>
            <a:endParaRPr lang="en-US" sz="1300" dirty="0"/>
          </a:p>
        </p:txBody>
      </p:sp>
      <p:sp>
        <p:nvSpPr>
          <p:cNvPr id="22" name="Text 168"/>
          <p:cNvSpPr txBox="1"/>
          <p:nvPr/>
        </p:nvSpPr>
        <p:spPr>
          <a:xfrm>
            <a:off x="7388352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고장 이벤트</a:t>
            </a:r>
            <a:endParaRPr lang="en-US" sz="1200" dirty="0"/>
          </a:p>
        </p:txBody>
      </p:sp>
      <p:sp>
        <p:nvSpPr>
          <p:cNvPr id="23" name="Flow 169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4" name="Text 170"/>
          <p:cNvSpPr txBox="1"/>
          <p:nvPr/>
        </p:nvSpPr>
        <p:spPr>
          <a:xfrm>
            <a:off x="1417320" y="345643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A_standardFaultCode, A_proprietaryFaultCode, A_failureDescription, A_causeDescription</a:t>
            </a:r>
            <a:endParaRPr lang="en-US" sz="1100" dirty="0"/>
          </a:p>
        </p:txBody>
      </p:sp>
      <p:sp>
        <p:nvSpPr>
          <p:cNvPr id="25" name="Flow 171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172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7" name="Flow 173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8" name="Text 174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2.4  Alarms</a:t>
            </a:r>
            <a:endParaRPr lang="en-US" sz="2200" dirty="0"/>
          </a:p>
        </p:txBody>
      </p:sp>
      <p:sp>
        <p:nvSpPr>
          <p:cNvPr id="3" name="Lifeline 175"/>
          <p:cNvSpPr/>
          <p:nvPr/>
        </p:nvSpPr>
        <p:spPr>
          <a:xfrm>
            <a:off x="1188720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176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177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178"/>
          <p:cNvSpPr/>
          <p:nvPr/>
        </p:nvSpPr>
        <p:spPr>
          <a:xfrm>
            <a:off x="11000232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179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180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181"/>
          <p:cNvSpPr/>
          <p:nvPr/>
        </p:nvSpPr>
        <p:spPr>
          <a:xfrm>
            <a:off x="457200" y="1554480"/>
            <a:ext cx="11274552" cy="219456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182"/>
          <p:cNvSpPr/>
          <p:nvPr/>
        </p:nvSpPr>
        <p:spPr>
          <a:xfrm>
            <a:off x="457200" y="1554480"/>
            <a:ext cx="857707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183"/>
          <p:cNvSpPr txBox="1"/>
          <p:nvPr/>
        </p:nvSpPr>
        <p:spPr>
          <a:xfrm>
            <a:off x="457200" y="1554480"/>
            <a:ext cx="857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Alarms</a:t>
            </a:r>
            <a:endParaRPr lang="en-US" sz="1300" dirty="0"/>
          </a:p>
        </p:txBody>
      </p:sp>
      <p:sp>
        <p:nvSpPr>
          <p:cNvPr id="12" name="Text 184"/>
          <p:cNvSpPr txBox="1"/>
          <p:nvPr/>
        </p:nvSpPr>
        <p:spPr>
          <a:xfrm>
            <a:off x="1479499" y="1554480"/>
            <a:ext cx="100510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고장 경보(CBIT)</a:t>
            </a:r>
            <a:endParaRPr lang="en-US" sz="1300" dirty="0"/>
          </a:p>
        </p:txBody>
      </p:sp>
      <p:sp>
        <p:nvSpPr>
          <p:cNvPr id="13" name="Text 185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Alarms__Alarm_Condition_Specification__raiseAlarmCondition</a:t>
            </a:r>
            <a:endParaRPr lang="en-US" sz="1300" dirty="0"/>
          </a:p>
        </p:txBody>
      </p:sp>
      <p:sp>
        <p:nvSpPr>
          <p:cNvPr id="14" name="Text 186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EQP08 경보 조건 발생</a:t>
            </a:r>
            <a:endParaRPr lang="en-US" sz="1200" dirty="0"/>
          </a:p>
        </p:txBody>
      </p:sp>
      <p:sp>
        <p:nvSpPr>
          <p:cNvPr id="15" name="Flow 187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88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A_subsystemName, A_componentName, A_measure, A_nature</a:t>
            </a:r>
            <a:endParaRPr lang="en-US" sz="1100" dirty="0"/>
          </a:p>
        </p:txBody>
      </p:sp>
      <p:sp>
        <p:nvSpPr>
          <p:cNvPr id="17" name="Text 189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Alarms__Actual_Alarm_Condition__clearAlarmCondition</a:t>
            </a:r>
            <a:endParaRPr lang="en-US" sz="1300" dirty="0"/>
          </a:p>
        </p:txBody>
      </p:sp>
      <p:sp>
        <p:nvSpPr>
          <p:cNvPr id="18" name="Text 190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EQP08 경보 조건 해제</a:t>
            </a:r>
            <a:endParaRPr lang="en-US" sz="1200" dirty="0"/>
          </a:p>
        </p:txBody>
      </p:sp>
      <p:sp>
        <p:nvSpPr>
          <p:cNvPr id="19" name="Flow 191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92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A_subsystemName, A_componentName, A_measure, A_nature</a:t>
            </a:r>
            <a:endParaRPr lang="en-US" sz="1100" dirty="0"/>
          </a:p>
        </p:txBody>
      </p:sp>
      <p:sp>
        <p:nvSpPr>
          <p:cNvPr id="21" name="Text 193"/>
          <p:cNvSpPr txBox="1"/>
          <p:nvPr/>
        </p:nvSpPr>
        <p:spPr>
          <a:xfrm>
            <a:off x="1417320" y="31455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Alarms__Actual_Alarm</a:t>
            </a:r>
            <a:endParaRPr lang="en-US" sz="1300" dirty="0"/>
          </a:p>
        </p:txBody>
      </p:sp>
      <p:sp>
        <p:nvSpPr>
          <p:cNvPr id="22" name="Text 194"/>
          <p:cNvSpPr txBox="1"/>
          <p:nvPr/>
        </p:nvSpPr>
        <p:spPr>
          <a:xfrm>
            <a:off x="7388352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발생한 경보</a:t>
            </a:r>
            <a:endParaRPr lang="en-US" sz="1200" dirty="0"/>
          </a:p>
        </p:txBody>
      </p:sp>
      <p:sp>
        <p:nvSpPr>
          <p:cNvPr id="23" name="Flow 195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4" name="Text 196"/>
          <p:cNvSpPr txBox="1"/>
          <p:nvPr/>
        </p:nvSpPr>
        <p:spPr>
          <a:xfrm>
            <a:off x="1417320" y="345643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A_subsystemName, A_componentName, A_alarmState, A_dateTimeRaised</a:t>
            </a:r>
            <a:endParaRPr lang="en-US" sz="1100" dirty="0"/>
          </a:p>
        </p:txBody>
      </p:sp>
      <p:sp>
        <p:nvSpPr>
          <p:cNvPr id="25" name="Text 197"/>
          <p:cNvSpPr txBox="1"/>
          <p:nvPr/>
        </p:nvSpPr>
        <p:spPr>
          <a:xfrm>
            <a:off x="457200" y="393192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raise, clear는 EQP08에서 발생한 경보만 EQP08 → EQP09로 보낸다. EQP09 자체 경보는 EQP09 내부에서 발행하고 수신한다.</a:t>
            </a:r>
            <a:endParaRPr lang="en-US" sz="1100" dirty="0"/>
          </a:p>
        </p:txBody>
      </p:sp>
      <p:sp>
        <p:nvSpPr>
          <p:cNvPr id="26" name="Flow 198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199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8" name="Flow 200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9" name="Text 201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2.5  Mount</a:t>
            </a:r>
            <a:endParaRPr lang="en-US" sz="2200" dirty="0"/>
          </a:p>
        </p:txBody>
      </p:sp>
      <p:sp>
        <p:nvSpPr>
          <p:cNvPr id="3" name="Lifeline 202"/>
          <p:cNvSpPr/>
          <p:nvPr/>
        </p:nvSpPr>
        <p:spPr>
          <a:xfrm>
            <a:off x="1188720" y="1389888"/>
            <a:ext cx="0" cy="280720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203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04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205"/>
          <p:cNvSpPr/>
          <p:nvPr/>
        </p:nvSpPr>
        <p:spPr>
          <a:xfrm>
            <a:off x="11000232" y="1389888"/>
            <a:ext cx="0" cy="280720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206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07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208"/>
          <p:cNvSpPr/>
          <p:nvPr/>
        </p:nvSpPr>
        <p:spPr>
          <a:xfrm>
            <a:off x="457200" y="1554480"/>
            <a:ext cx="11274552" cy="2505456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209"/>
          <p:cNvSpPr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210"/>
          <p:cNvSpPr txBox="1"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Mount</a:t>
            </a:r>
            <a:endParaRPr lang="en-US" sz="1300" dirty="0"/>
          </a:p>
        </p:txBody>
      </p:sp>
      <p:sp>
        <p:nvSpPr>
          <p:cNvPr id="12" name="Text 211"/>
          <p:cNvSpPr txBox="1"/>
          <p:nvPr/>
        </p:nvSpPr>
        <p:spPr>
          <a:xfrm>
            <a:off x="1388364" y="1554480"/>
            <a:ext cx="10142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EQP01/EQP02/EQP03/EQP04 자세 정보</a:t>
            </a:r>
            <a:endParaRPr lang="en-US" sz="1300" dirty="0"/>
          </a:p>
        </p:txBody>
      </p:sp>
      <p:sp>
        <p:nvSpPr>
          <p:cNvPr id="13" name="Text 212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Mount__Rotational_Mount</a:t>
            </a:r>
            <a:endParaRPr lang="en-US" sz="1300" dirty="0"/>
          </a:p>
        </p:txBody>
      </p:sp>
      <p:sp>
        <p:nvSpPr>
          <p:cNvPr id="14" name="Text 213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마운트 자세와 스캔 상태</a:t>
            </a:r>
            <a:endParaRPr lang="en-US" sz="1200" dirty="0"/>
          </a:p>
        </p:txBody>
      </p:sp>
      <p:sp>
        <p:nvSpPr>
          <p:cNvPr id="15" name="Flow 214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6" name="Text 215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A_mountPosition, A_mountAngularVelocity, A_scan, A_currentState</a:t>
            </a:r>
            <a:endParaRPr lang="en-US" sz="1100" dirty="0"/>
          </a:p>
        </p:txBody>
      </p:sp>
      <p:sp>
        <p:nvSpPr>
          <p:cNvPr id="17" name="Divider 216"/>
          <p:cNvSpPr/>
          <p:nvPr/>
        </p:nvSpPr>
        <p:spPr>
          <a:xfrm>
            <a:off x="457200" y="2578608"/>
            <a:ext cx="1127455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ash"/>
          </a:ln>
        </p:spPr>
      </p:sp>
      <p:sp>
        <p:nvSpPr>
          <p:cNvPr id="18" name="Text 217"/>
          <p:cNvSpPr txBox="1"/>
          <p:nvPr/>
        </p:nvSpPr>
        <p:spPr>
          <a:xfrm>
            <a:off x="1417320" y="2606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EQP02 자동탐색</a:t>
            </a:r>
            <a:endParaRPr lang="en-US" sz="1300" dirty="0"/>
          </a:p>
        </p:txBody>
      </p:sp>
      <p:sp>
        <p:nvSpPr>
          <p:cNvPr id="19" name="Text 218"/>
          <p:cNvSpPr txBox="1"/>
          <p:nvPr/>
        </p:nvSpPr>
        <p:spPr>
          <a:xfrm>
            <a:off x="1417320" y="28712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Mount__Rotational_Mount__setScanParameters</a:t>
            </a:r>
            <a:endParaRPr lang="en-US" sz="1300" dirty="0"/>
          </a:p>
        </p:txBody>
      </p:sp>
      <p:sp>
        <p:nvSpPr>
          <p:cNvPr id="20" name="Text 219"/>
          <p:cNvSpPr txBox="1"/>
          <p:nvPr/>
        </p:nvSpPr>
        <p:spPr>
          <a:xfrm>
            <a:off x="7388352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축별 스캔 파라미터 설정</a:t>
            </a:r>
            <a:endParaRPr lang="en-US" sz="1200" dirty="0"/>
          </a:p>
        </p:txBody>
      </p:sp>
      <p:sp>
        <p:nvSpPr>
          <p:cNvPr id="21" name="Flow 220"/>
          <p:cNvSpPr/>
          <p:nvPr/>
        </p:nvSpPr>
        <p:spPr>
          <a:xfrm>
            <a:off x="1188720" y="315468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221"/>
          <p:cNvSpPr txBox="1"/>
          <p:nvPr/>
        </p:nvSpPr>
        <p:spPr>
          <a:xfrm>
            <a:off x="1417320" y="318211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A_scanParameters</a:t>
            </a:r>
            <a:endParaRPr lang="en-US" sz="1100" dirty="0"/>
          </a:p>
        </p:txBody>
      </p:sp>
      <p:sp>
        <p:nvSpPr>
          <p:cNvPr id="23" name="Text 222"/>
          <p:cNvSpPr txBox="1"/>
          <p:nvPr/>
        </p:nvSpPr>
        <p:spPr>
          <a:xfrm>
            <a:off x="1417320" y="34564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Mount__Rotational_Mount__controlScan</a:t>
            </a:r>
            <a:endParaRPr lang="en-US" sz="1300" dirty="0"/>
          </a:p>
        </p:txBody>
      </p:sp>
      <p:sp>
        <p:nvSpPr>
          <p:cNvPr id="24" name="Text 223"/>
          <p:cNvSpPr txBox="1"/>
          <p:nvPr/>
        </p:nvSpPr>
        <p:spPr>
          <a:xfrm>
            <a:off x="7388352" y="3456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스캔 시작 / 정지 / 일시정지 / 재개</a:t>
            </a:r>
            <a:endParaRPr lang="en-US" sz="1200" dirty="0"/>
          </a:p>
        </p:txBody>
      </p:sp>
      <p:sp>
        <p:nvSpPr>
          <p:cNvPr id="25" name="Flow 224"/>
          <p:cNvSpPr/>
          <p:nvPr/>
        </p:nvSpPr>
        <p:spPr>
          <a:xfrm>
            <a:off x="1188720" y="3739896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225"/>
          <p:cNvSpPr txBox="1"/>
          <p:nvPr/>
        </p:nvSpPr>
        <p:spPr>
          <a:xfrm>
            <a:off x="1417320" y="3767328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A_set, A_startAxis, A_interAxisOffset</a:t>
            </a:r>
            <a:endParaRPr lang="en-US" sz="1100" dirty="0"/>
          </a:p>
        </p:txBody>
      </p:sp>
      <p:sp>
        <p:nvSpPr>
          <p:cNvPr id="27" name="Flow 226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Text 227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9" name="Flow 228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30" name="Text 229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2.6  LRF</a:t>
            </a:r>
            <a:endParaRPr lang="en-US" sz="2200" dirty="0"/>
          </a:p>
        </p:txBody>
      </p:sp>
      <p:sp>
        <p:nvSpPr>
          <p:cNvPr id="3" name="Lifeline 230"/>
          <p:cNvSpPr/>
          <p:nvPr/>
        </p:nvSpPr>
        <p:spPr>
          <a:xfrm>
            <a:off x="1188720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231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32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233"/>
          <p:cNvSpPr/>
          <p:nvPr/>
        </p:nvSpPr>
        <p:spPr>
          <a:xfrm>
            <a:off x="11000232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234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35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236"/>
          <p:cNvSpPr/>
          <p:nvPr/>
        </p:nvSpPr>
        <p:spPr>
          <a:xfrm>
            <a:off x="457200" y="1554480"/>
            <a:ext cx="11274552" cy="1609344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237"/>
          <p:cNvSpPr/>
          <p:nvPr/>
        </p:nvSpPr>
        <p:spPr>
          <a:xfrm>
            <a:off x="457200" y="1554480"/>
            <a:ext cx="58430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238"/>
          <p:cNvSpPr txBox="1"/>
          <p:nvPr/>
        </p:nvSpPr>
        <p:spPr>
          <a:xfrm>
            <a:off x="457200" y="1554480"/>
            <a:ext cx="584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LRF</a:t>
            </a:r>
            <a:endParaRPr lang="en-US" sz="1300" dirty="0"/>
          </a:p>
        </p:txBody>
      </p:sp>
      <p:sp>
        <p:nvSpPr>
          <p:cNvPr id="12" name="Text 239"/>
          <p:cNvSpPr txBox="1"/>
          <p:nvPr/>
        </p:nvSpPr>
        <p:spPr>
          <a:xfrm>
            <a:off x="1206094" y="1554480"/>
            <a:ext cx="10324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EQP07 정보</a:t>
            </a:r>
            <a:endParaRPr lang="en-US" sz="1300" dirty="0"/>
          </a:p>
        </p:txBody>
      </p:sp>
      <p:sp>
        <p:nvSpPr>
          <p:cNvPr id="13" name="Text 240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LRF__Laser_Range_Finder</a:t>
            </a:r>
            <a:endParaRPr lang="en-US" sz="1300" dirty="0"/>
          </a:p>
        </p:txBody>
      </p:sp>
      <p:sp>
        <p:nvSpPr>
          <p:cNvPr id="14" name="Text 241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LRF 상태</a:t>
            </a:r>
            <a:endParaRPr lang="en-US" sz="1200" dirty="0"/>
          </a:p>
        </p:txBody>
      </p:sp>
      <p:sp>
        <p:nvSpPr>
          <p:cNvPr id="15" name="Flow 242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6" name="Text 243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A_lrfState, A_userDefinedMinimumRange, A_firstOrLast</a:t>
            </a:r>
            <a:endParaRPr lang="en-US" sz="1100" dirty="0"/>
          </a:p>
        </p:txBody>
      </p:sp>
      <p:sp>
        <p:nvSpPr>
          <p:cNvPr id="17" name="Text 244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LRF__Laser_Range_Finder_Measurement</a:t>
            </a:r>
            <a:endParaRPr lang="en-US" sz="1300" dirty="0"/>
          </a:p>
        </p:txBody>
      </p:sp>
      <p:sp>
        <p:nvSpPr>
          <p:cNvPr id="18" name="Text 245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측정 결과</a:t>
            </a:r>
            <a:endParaRPr lang="en-US" sz="1200" dirty="0"/>
          </a:p>
        </p:txBody>
      </p:sp>
      <p:sp>
        <p:nvSpPr>
          <p:cNvPr id="19" name="Flow 246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247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A_firstOrLast, A_associatedLRF_sourceID, A_Tactical_Sensor_Detection_sourceID</a:t>
            </a:r>
            <a:endParaRPr lang="en-US" sz="1100" dirty="0"/>
          </a:p>
        </p:txBody>
      </p:sp>
      <p:sp>
        <p:nvSpPr>
          <p:cNvPr id="21" name="Flow 248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249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3" name="Flow 250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Text 251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2.7  Navigation_Reference</a:t>
            </a:r>
            <a:endParaRPr lang="en-US" sz="2200" dirty="0"/>
          </a:p>
        </p:txBody>
      </p:sp>
      <p:sp>
        <p:nvSpPr>
          <p:cNvPr id="3" name="Lifeline 252"/>
          <p:cNvSpPr/>
          <p:nvPr/>
        </p:nvSpPr>
        <p:spPr>
          <a:xfrm>
            <a:off x="1188720" y="1389888"/>
            <a:ext cx="0" cy="3666744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253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54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255"/>
          <p:cNvSpPr/>
          <p:nvPr/>
        </p:nvSpPr>
        <p:spPr>
          <a:xfrm>
            <a:off x="11000232" y="1389888"/>
            <a:ext cx="0" cy="3666744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256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57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258"/>
          <p:cNvSpPr/>
          <p:nvPr/>
        </p:nvSpPr>
        <p:spPr>
          <a:xfrm>
            <a:off x="457200" y="1554480"/>
            <a:ext cx="11274552" cy="3364992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259"/>
          <p:cNvSpPr/>
          <p:nvPr/>
        </p:nvSpPr>
        <p:spPr>
          <a:xfrm>
            <a:off x="457200" y="1554480"/>
            <a:ext cx="2133600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260"/>
          <p:cNvSpPr txBox="1"/>
          <p:nvPr/>
        </p:nvSpPr>
        <p:spPr>
          <a:xfrm>
            <a:off x="457200" y="155448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</a:t>
            </a:r>
            <a:endParaRPr lang="en-US" sz="1300" dirty="0"/>
          </a:p>
        </p:txBody>
      </p:sp>
      <p:sp>
        <p:nvSpPr>
          <p:cNvPr id="12" name="Text 261"/>
          <p:cNvSpPr txBox="1"/>
          <p:nvPr/>
        </p:nvSpPr>
        <p:spPr>
          <a:xfrm>
            <a:off x="2755392" y="1554480"/>
            <a:ext cx="877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차량 자세 등 항법 정보</a:t>
            </a:r>
            <a:endParaRPr lang="en-US" sz="1300" dirty="0"/>
          </a:p>
        </p:txBody>
      </p:sp>
      <p:sp>
        <p:nvSpPr>
          <p:cNvPr id="13" name="Text 262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Navigation_Reference__Position</a:t>
            </a:r>
            <a:endParaRPr lang="en-US" sz="1300" dirty="0"/>
          </a:p>
        </p:txBody>
      </p:sp>
      <p:sp>
        <p:nvSpPr>
          <p:cNvPr id="14" name="Text 263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현재 위치 (WGS84)</a:t>
            </a:r>
            <a:endParaRPr lang="en-US" sz="1200" dirty="0"/>
          </a:p>
        </p:txBody>
      </p:sp>
      <p:sp>
        <p:nvSpPr>
          <p:cNvPr id="15" name="Flow 264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6" name="Text 265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A_currentPosition</a:t>
            </a:r>
            <a:endParaRPr lang="en-US" sz="1100" dirty="0"/>
          </a:p>
        </p:txBody>
      </p:sp>
      <p:sp>
        <p:nvSpPr>
          <p:cNvPr id="17" name="Text 266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Navigation_Reference__Heading</a:t>
            </a:r>
            <a:endParaRPr lang="en-US" sz="1300" dirty="0"/>
          </a:p>
        </p:txBody>
      </p:sp>
      <p:sp>
        <p:nvSpPr>
          <p:cNvPr id="18" name="Text 267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방위</a:t>
            </a:r>
            <a:endParaRPr lang="en-US" sz="1200" dirty="0"/>
          </a:p>
        </p:txBody>
      </p:sp>
      <p:sp>
        <p:nvSpPr>
          <p:cNvPr id="19" name="Flow 268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269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A_heading</a:t>
            </a:r>
            <a:endParaRPr lang="en-US" sz="1100" dirty="0"/>
          </a:p>
        </p:txBody>
      </p:sp>
      <p:sp>
        <p:nvSpPr>
          <p:cNvPr id="21" name="Text 270"/>
          <p:cNvSpPr txBox="1"/>
          <p:nvPr/>
        </p:nvSpPr>
        <p:spPr>
          <a:xfrm>
            <a:off x="1417320" y="31455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Navigation_Reference__Attitude</a:t>
            </a:r>
            <a:endParaRPr lang="en-US" sz="1300" dirty="0"/>
          </a:p>
        </p:txBody>
      </p:sp>
      <p:sp>
        <p:nvSpPr>
          <p:cNvPr id="22" name="Text 271"/>
          <p:cNvSpPr txBox="1"/>
          <p:nvPr/>
        </p:nvSpPr>
        <p:spPr>
          <a:xfrm>
            <a:off x="7388352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차량 자세</a:t>
            </a:r>
            <a:endParaRPr lang="en-US" sz="1200" dirty="0"/>
          </a:p>
        </p:txBody>
      </p:sp>
      <p:sp>
        <p:nvSpPr>
          <p:cNvPr id="23" name="Flow 272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4" name="Text 273"/>
          <p:cNvSpPr txBox="1"/>
          <p:nvPr/>
        </p:nvSpPr>
        <p:spPr>
          <a:xfrm>
            <a:off x="1417320" y="345643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A_attitude</a:t>
            </a:r>
            <a:endParaRPr lang="en-US" sz="1100" dirty="0"/>
          </a:p>
        </p:txBody>
      </p:sp>
      <p:sp>
        <p:nvSpPr>
          <p:cNvPr id="25" name="Text 274"/>
          <p:cNvSpPr txBox="1"/>
          <p:nvPr/>
        </p:nvSpPr>
        <p:spPr>
          <a:xfrm>
            <a:off x="1417320" y="37307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Navigation_Reference__Odometer</a:t>
            </a:r>
            <a:endParaRPr lang="en-US" sz="1300" dirty="0"/>
          </a:p>
        </p:txBody>
      </p:sp>
      <p:sp>
        <p:nvSpPr>
          <p:cNvPr id="26" name="Text 275"/>
          <p:cNvSpPr txBox="1"/>
          <p:nvPr/>
        </p:nvSpPr>
        <p:spPr>
          <a:xfrm>
            <a:off x="7388352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주행 거리</a:t>
            </a:r>
            <a:endParaRPr lang="en-US" sz="1200" dirty="0"/>
          </a:p>
        </p:txBody>
      </p:sp>
      <p:sp>
        <p:nvSpPr>
          <p:cNvPr id="27" name="Flow 276"/>
          <p:cNvSpPr/>
          <p:nvPr/>
        </p:nvSpPr>
        <p:spPr>
          <a:xfrm>
            <a:off x="1188720" y="4014216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8" name="Text 277"/>
          <p:cNvSpPr txBox="1"/>
          <p:nvPr/>
        </p:nvSpPr>
        <p:spPr>
          <a:xfrm>
            <a:off x="1417320" y="4041648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A_distanceTravelled</a:t>
            </a:r>
            <a:endParaRPr lang="en-US" sz="1100" dirty="0"/>
          </a:p>
        </p:txBody>
      </p:sp>
      <p:sp>
        <p:nvSpPr>
          <p:cNvPr id="29" name="Text 278"/>
          <p:cNvSpPr txBox="1"/>
          <p:nvPr/>
        </p:nvSpPr>
        <p:spPr>
          <a:xfrm>
            <a:off x="1417320" y="43159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Navigation_Reference__GPS_Receiver</a:t>
            </a:r>
            <a:endParaRPr lang="en-US" sz="1300" dirty="0"/>
          </a:p>
        </p:txBody>
      </p:sp>
      <p:sp>
        <p:nvSpPr>
          <p:cNvPr id="30" name="Text 279"/>
          <p:cNvSpPr txBox="1"/>
          <p:nvPr/>
        </p:nvSpPr>
        <p:spPr>
          <a:xfrm>
            <a:off x="7388352" y="4315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GPS 수신기 상태</a:t>
            </a:r>
            <a:endParaRPr lang="en-US" sz="1200" dirty="0"/>
          </a:p>
        </p:txBody>
      </p:sp>
      <p:sp>
        <p:nvSpPr>
          <p:cNvPr id="31" name="Flow 280"/>
          <p:cNvSpPr/>
          <p:nvPr/>
        </p:nvSpPr>
        <p:spPr>
          <a:xfrm>
            <a:off x="1188720" y="4599432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32" name="Text 281"/>
          <p:cNvSpPr txBox="1"/>
          <p:nvPr/>
        </p:nvSpPr>
        <p:spPr>
          <a:xfrm>
            <a:off x="1417320" y="4626864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A_gpsReady, A_numberOfSatellitesAvailable, A_positionError, A_spoofersDetected</a:t>
            </a:r>
            <a:endParaRPr lang="en-US" sz="1100" dirty="0"/>
          </a:p>
        </p:txBody>
      </p:sp>
      <p:sp>
        <p:nvSpPr>
          <p:cNvPr id="33" name="Flow 282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Text 283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35" name="Flow 284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36" name="Text 285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2.8  Tactical_Sensor</a:t>
            </a:r>
            <a:endParaRPr lang="en-US" sz="2200" dirty="0"/>
          </a:p>
        </p:txBody>
      </p:sp>
      <p:sp>
        <p:nvSpPr>
          <p:cNvPr id="3" name="Lifeline 286"/>
          <p:cNvSpPr/>
          <p:nvPr/>
        </p:nvSpPr>
        <p:spPr>
          <a:xfrm>
            <a:off x="1188720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287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88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289"/>
          <p:cNvSpPr/>
          <p:nvPr/>
        </p:nvSpPr>
        <p:spPr>
          <a:xfrm>
            <a:off x="11000232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290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291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292"/>
          <p:cNvSpPr/>
          <p:nvPr/>
        </p:nvSpPr>
        <p:spPr>
          <a:xfrm>
            <a:off x="457200" y="1554480"/>
            <a:ext cx="11274552" cy="219456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293"/>
          <p:cNvSpPr/>
          <p:nvPr/>
        </p:nvSpPr>
        <p:spPr>
          <a:xfrm>
            <a:off x="457200" y="1554480"/>
            <a:ext cx="167792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294"/>
          <p:cNvSpPr txBox="1"/>
          <p:nvPr/>
        </p:nvSpPr>
        <p:spPr>
          <a:xfrm>
            <a:off x="457200" y="1554480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Tactical_Sensor</a:t>
            </a:r>
            <a:endParaRPr lang="en-US" sz="1300" dirty="0"/>
          </a:p>
        </p:txBody>
      </p:sp>
      <p:sp>
        <p:nvSpPr>
          <p:cNvPr id="12" name="Text 295"/>
          <p:cNvSpPr txBox="1"/>
          <p:nvPr/>
        </p:nvSpPr>
        <p:spPr>
          <a:xfrm>
            <a:off x="2299716" y="1554480"/>
            <a:ext cx="9230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EQP03 EQP06 탐지</a:t>
            </a:r>
            <a:endParaRPr lang="en-US" sz="1300" dirty="0"/>
          </a:p>
        </p:txBody>
      </p:sp>
      <p:sp>
        <p:nvSpPr>
          <p:cNvPr id="13" name="Text 296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Tactical_Sensor__Tactical_Sensor</a:t>
            </a:r>
            <a:endParaRPr lang="en-US" sz="1300" dirty="0"/>
          </a:p>
        </p:txBody>
      </p:sp>
      <p:sp>
        <p:nvSpPr>
          <p:cNvPr id="14" name="Text 297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센서 상태</a:t>
            </a:r>
            <a:endParaRPr lang="en-US" sz="1200" dirty="0"/>
          </a:p>
        </p:txBody>
      </p:sp>
      <p:sp>
        <p:nvSpPr>
          <p:cNvPr id="15" name="Flow 298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6" name="Text 299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A_currentState, A_detectionProbability, A_falseAlarmProbability</a:t>
            </a:r>
            <a:endParaRPr lang="en-US" sz="1100" dirty="0"/>
          </a:p>
        </p:txBody>
      </p:sp>
      <p:sp>
        <p:nvSpPr>
          <p:cNvPr id="17" name="Text 300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Tactical_Sensor__Detection</a:t>
            </a:r>
            <a:endParaRPr lang="en-US" sz="1300" dirty="0"/>
          </a:p>
        </p:txBody>
      </p:sp>
      <p:sp>
        <p:nvSpPr>
          <p:cNvPr id="18" name="Text 301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탐지 정보</a:t>
            </a:r>
            <a:endParaRPr lang="en-US" sz="1200" dirty="0"/>
          </a:p>
        </p:txBody>
      </p:sp>
      <p:sp>
        <p:nvSpPr>
          <p:cNvPr id="19" name="Flow 302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303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A_confidence, A_threatIndicator</a:t>
            </a:r>
            <a:endParaRPr lang="en-US" sz="1100" dirty="0"/>
          </a:p>
        </p:txBody>
      </p:sp>
      <p:sp>
        <p:nvSpPr>
          <p:cNvPr id="21" name="Text 304"/>
          <p:cNvSpPr txBox="1"/>
          <p:nvPr/>
        </p:nvSpPr>
        <p:spPr>
          <a:xfrm>
            <a:off x="1417320" y="31455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Tactical_Sensor__Detection_Location</a:t>
            </a:r>
            <a:endParaRPr lang="en-US" sz="1300" dirty="0"/>
          </a:p>
        </p:txBody>
      </p:sp>
      <p:sp>
        <p:nvSpPr>
          <p:cNvPr id="22" name="Text 305"/>
          <p:cNvSpPr txBox="1"/>
          <p:nvPr/>
        </p:nvSpPr>
        <p:spPr>
          <a:xfrm>
            <a:off x="7388352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탐지 위치</a:t>
            </a:r>
            <a:endParaRPr lang="en-US" sz="1200" dirty="0"/>
          </a:p>
        </p:txBody>
      </p:sp>
      <p:sp>
        <p:nvSpPr>
          <p:cNvPr id="23" name="Flow 306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4" name="Text 307"/>
          <p:cNvSpPr txBox="1"/>
          <p:nvPr/>
        </p:nvSpPr>
        <p:spPr>
          <a:xfrm>
            <a:off x="1417320" y="345643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A_relativeLocation, A_relativeLocationAccuracy, A_detectionSize</a:t>
            </a:r>
            <a:endParaRPr lang="en-US" sz="1100" dirty="0"/>
          </a:p>
        </p:txBody>
      </p:sp>
      <p:sp>
        <p:nvSpPr>
          <p:cNvPr id="25" name="Flow 308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309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7" name="Flow 310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8" name="Text 311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2.9  Laser_Warning_System</a:t>
            </a:r>
            <a:endParaRPr lang="en-US" sz="2200" dirty="0"/>
          </a:p>
        </p:txBody>
      </p:sp>
      <p:sp>
        <p:nvSpPr>
          <p:cNvPr id="3" name="Lifeline 312"/>
          <p:cNvSpPr/>
          <p:nvPr/>
        </p:nvSpPr>
        <p:spPr>
          <a:xfrm>
            <a:off x="1188720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313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14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315"/>
          <p:cNvSpPr/>
          <p:nvPr/>
        </p:nvSpPr>
        <p:spPr>
          <a:xfrm>
            <a:off x="11000232" y="1389888"/>
            <a:ext cx="0" cy="191109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316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317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318"/>
          <p:cNvSpPr/>
          <p:nvPr/>
        </p:nvSpPr>
        <p:spPr>
          <a:xfrm>
            <a:off x="457200" y="1554480"/>
            <a:ext cx="11274552" cy="1609344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319"/>
          <p:cNvSpPr/>
          <p:nvPr/>
        </p:nvSpPr>
        <p:spPr>
          <a:xfrm>
            <a:off x="457200" y="1554480"/>
            <a:ext cx="2133600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320"/>
          <p:cNvSpPr txBox="1"/>
          <p:nvPr/>
        </p:nvSpPr>
        <p:spPr>
          <a:xfrm>
            <a:off x="457200" y="155448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Laser_Warning_System</a:t>
            </a:r>
            <a:endParaRPr lang="en-US" sz="1300" dirty="0"/>
          </a:p>
        </p:txBody>
      </p:sp>
      <p:sp>
        <p:nvSpPr>
          <p:cNvPr id="12" name="Text 321"/>
          <p:cNvSpPr txBox="1"/>
          <p:nvPr/>
        </p:nvSpPr>
        <p:spPr>
          <a:xfrm>
            <a:off x="2755392" y="1554480"/>
            <a:ext cx="877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EQP05 탐지 정보</a:t>
            </a:r>
            <a:endParaRPr lang="en-US" sz="1300" dirty="0"/>
          </a:p>
        </p:txBody>
      </p:sp>
      <p:sp>
        <p:nvSpPr>
          <p:cNvPr id="13" name="Text 322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Laser_Warning_System__Laser_Warning_System</a:t>
            </a:r>
            <a:endParaRPr lang="en-US" sz="1300" dirty="0"/>
          </a:p>
        </p:txBody>
      </p:sp>
      <p:sp>
        <p:nvSpPr>
          <p:cNvPr id="14" name="Text 323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EQP05 동작 상태</a:t>
            </a:r>
            <a:endParaRPr lang="en-US" sz="1200" dirty="0"/>
          </a:p>
        </p:txBody>
      </p:sp>
      <p:sp>
        <p:nvSpPr>
          <p:cNvPr id="15" name="Flow 324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16" name="Text 325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A_currentState</a:t>
            </a:r>
            <a:endParaRPr lang="en-US" sz="1100" dirty="0"/>
          </a:p>
        </p:txBody>
      </p:sp>
      <p:sp>
        <p:nvSpPr>
          <p:cNvPr id="17" name="Text 326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Laser_Warning_System__Laser_Detection</a:t>
            </a:r>
            <a:endParaRPr lang="en-US" sz="1300" dirty="0"/>
          </a:p>
        </p:txBody>
      </p:sp>
      <p:sp>
        <p:nvSpPr>
          <p:cNvPr id="18" name="Text 327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레이저 탐지</a:t>
            </a:r>
            <a:endParaRPr lang="en-US" sz="1200" dirty="0"/>
          </a:p>
        </p:txBody>
      </p:sp>
      <p:sp>
        <p:nvSpPr>
          <p:cNvPr id="19" name="Flow 328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0" name="Text 329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A_classification, A_finalised, A_currentState</a:t>
            </a:r>
            <a:endParaRPr lang="en-US" sz="1100" dirty="0"/>
          </a:p>
        </p:txBody>
      </p:sp>
      <p:sp>
        <p:nvSpPr>
          <p:cNvPr id="21" name="Flow 330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331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3" name="Flow 332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Text 333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2.10  Video</a:t>
            </a:r>
            <a:endParaRPr lang="en-US" sz="2200" dirty="0"/>
          </a:p>
        </p:txBody>
      </p:sp>
      <p:sp>
        <p:nvSpPr>
          <p:cNvPr id="3" name="Lifeline 334"/>
          <p:cNvSpPr/>
          <p:nvPr/>
        </p:nvSpPr>
        <p:spPr>
          <a:xfrm>
            <a:off x="1188720" y="1389888"/>
            <a:ext cx="0" cy="469087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335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36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337"/>
          <p:cNvSpPr/>
          <p:nvPr/>
        </p:nvSpPr>
        <p:spPr>
          <a:xfrm>
            <a:off x="11000232" y="1389888"/>
            <a:ext cx="0" cy="469087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338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339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340"/>
          <p:cNvSpPr/>
          <p:nvPr/>
        </p:nvSpPr>
        <p:spPr>
          <a:xfrm>
            <a:off x="457200" y="1554480"/>
            <a:ext cx="11274552" cy="438912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341"/>
          <p:cNvSpPr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342"/>
          <p:cNvSpPr txBox="1"/>
          <p:nvPr/>
        </p:nvSpPr>
        <p:spPr>
          <a:xfrm>
            <a:off x="457200" y="1554480"/>
            <a:ext cx="766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</a:t>
            </a:r>
            <a:endParaRPr lang="en-US" sz="1300" dirty="0"/>
          </a:p>
        </p:txBody>
      </p:sp>
      <p:sp>
        <p:nvSpPr>
          <p:cNvPr id="12" name="Text 343"/>
          <p:cNvSpPr txBox="1"/>
          <p:nvPr/>
        </p:nvSpPr>
        <p:spPr>
          <a:xfrm>
            <a:off x="1388364" y="1554480"/>
            <a:ext cx="10142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상황인식 영상, EQP02 영상 설정</a:t>
            </a:r>
            <a:endParaRPr lang="en-US" sz="1300" dirty="0"/>
          </a:p>
        </p:txBody>
      </p:sp>
      <p:sp>
        <p:nvSpPr>
          <p:cNvPr id="13" name="Text 344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Video__Offset__setOffsetAbsolute</a:t>
            </a:r>
            <a:endParaRPr lang="en-US" sz="1300" dirty="0"/>
          </a:p>
        </p:txBody>
      </p:sp>
      <p:sp>
        <p:nvSpPr>
          <p:cNvPr id="14" name="Text 345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오프셋(밝기) 설정</a:t>
            </a:r>
            <a:endParaRPr lang="en-US" sz="1200" dirty="0"/>
          </a:p>
        </p:txBody>
      </p:sp>
      <p:sp>
        <p:nvSpPr>
          <p:cNvPr id="15" name="Flow 346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347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A_offsetAbsolute</a:t>
            </a:r>
            <a:endParaRPr lang="en-US" sz="1100" dirty="0"/>
          </a:p>
        </p:txBody>
      </p:sp>
      <p:sp>
        <p:nvSpPr>
          <p:cNvPr id="17" name="Text 348"/>
          <p:cNvSpPr txBox="1"/>
          <p:nvPr/>
        </p:nvSpPr>
        <p:spPr>
          <a:xfrm>
            <a:off x="1417320" y="249500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Video__Black_Level__setBlackLevelAbsolute</a:t>
            </a:r>
            <a:endParaRPr lang="en-US" sz="1300" dirty="0"/>
          </a:p>
        </p:txBody>
      </p:sp>
      <p:sp>
        <p:nvSpPr>
          <p:cNvPr id="18" name="Text 349"/>
          <p:cNvSpPr txBox="1"/>
          <p:nvPr/>
        </p:nvSpPr>
        <p:spPr>
          <a:xfrm>
            <a:off x="7388352" y="249500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블랙 레벨 설정</a:t>
            </a:r>
            <a:endParaRPr lang="en-US" sz="1200" dirty="0"/>
          </a:p>
        </p:txBody>
      </p:sp>
      <p:sp>
        <p:nvSpPr>
          <p:cNvPr id="19" name="Flow 350"/>
          <p:cNvSpPr/>
          <p:nvPr/>
        </p:nvSpPr>
        <p:spPr>
          <a:xfrm>
            <a:off x="1188720" y="277847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351"/>
          <p:cNvSpPr txBox="1"/>
          <p:nvPr/>
        </p:nvSpPr>
        <p:spPr>
          <a:xfrm>
            <a:off x="1417320" y="280590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A_blackLevelAbsolute</a:t>
            </a:r>
            <a:endParaRPr lang="en-US" sz="1100" dirty="0"/>
          </a:p>
        </p:txBody>
      </p:sp>
      <p:sp>
        <p:nvSpPr>
          <p:cNvPr id="21" name="Text 352"/>
          <p:cNvSpPr txBox="1"/>
          <p:nvPr/>
        </p:nvSpPr>
        <p:spPr>
          <a:xfrm>
            <a:off x="1417320" y="3014907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Video__Polarity__invertPolarity</a:t>
            </a:r>
            <a:endParaRPr lang="en-US" sz="1300" dirty="0"/>
          </a:p>
        </p:txBody>
      </p:sp>
      <p:sp>
        <p:nvSpPr>
          <p:cNvPr id="22" name="Text 353"/>
          <p:cNvSpPr txBox="1"/>
          <p:nvPr/>
        </p:nvSpPr>
        <p:spPr>
          <a:xfrm>
            <a:off x="7388352" y="301490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극성 반전 (White hot / Black hot)</a:t>
            </a:r>
            <a:endParaRPr lang="en-US" sz="1200" dirty="0"/>
          </a:p>
        </p:txBody>
      </p:sp>
      <p:sp>
        <p:nvSpPr>
          <p:cNvPr id="23" name="Flow 354"/>
          <p:cNvSpPr/>
          <p:nvPr/>
        </p:nvSpPr>
        <p:spPr>
          <a:xfrm>
            <a:off x="1188720" y="3298371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355"/>
          <p:cNvSpPr txBox="1"/>
          <p:nvPr/>
        </p:nvSpPr>
        <p:spPr>
          <a:xfrm>
            <a:off x="1417320" y="3325803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추가 필드 없음</a:t>
            </a:r>
            <a:endParaRPr lang="en-US" sz="1100" dirty="0"/>
          </a:p>
        </p:txBody>
      </p:sp>
      <p:sp>
        <p:nvSpPr>
          <p:cNvPr id="25" name="Text 356"/>
          <p:cNvSpPr txBox="1"/>
          <p:nvPr/>
        </p:nvSpPr>
        <p:spPr>
          <a:xfrm>
            <a:off x="1417320" y="3534809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Video__Offset</a:t>
            </a:r>
            <a:endParaRPr lang="en-US" sz="1300" dirty="0"/>
          </a:p>
        </p:txBody>
      </p:sp>
      <p:sp>
        <p:nvSpPr>
          <p:cNvPr id="26" name="Text 357"/>
          <p:cNvSpPr txBox="1"/>
          <p:nvPr/>
        </p:nvSpPr>
        <p:spPr>
          <a:xfrm>
            <a:off x="7388352" y="353480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오프셋 상태</a:t>
            </a:r>
            <a:endParaRPr lang="en-US" sz="1200" dirty="0"/>
          </a:p>
        </p:txBody>
      </p:sp>
      <p:sp>
        <p:nvSpPr>
          <p:cNvPr id="27" name="Flow 358"/>
          <p:cNvSpPr/>
          <p:nvPr/>
        </p:nvSpPr>
        <p:spPr>
          <a:xfrm>
            <a:off x="1188720" y="3818273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28" name="Text 359"/>
          <p:cNvSpPr txBox="1"/>
          <p:nvPr/>
        </p:nvSpPr>
        <p:spPr>
          <a:xfrm>
            <a:off x="1417320" y="3845705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A_offsetAbsolute, A_offsetStepSize, A_offsetState</a:t>
            </a:r>
            <a:endParaRPr lang="en-US" sz="1100" dirty="0"/>
          </a:p>
        </p:txBody>
      </p:sp>
      <p:sp>
        <p:nvSpPr>
          <p:cNvPr id="29" name="Text 360"/>
          <p:cNvSpPr txBox="1"/>
          <p:nvPr/>
        </p:nvSpPr>
        <p:spPr>
          <a:xfrm>
            <a:off x="1417320" y="4054711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Video__Black_Level</a:t>
            </a:r>
            <a:endParaRPr lang="en-US" sz="1300" dirty="0"/>
          </a:p>
        </p:txBody>
      </p:sp>
      <p:sp>
        <p:nvSpPr>
          <p:cNvPr id="30" name="Text 361"/>
          <p:cNvSpPr txBox="1"/>
          <p:nvPr/>
        </p:nvSpPr>
        <p:spPr>
          <a:xfrm>
            <a:off x="7388352" y="405471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블랙 레벨 상태</a:t>
            </a:r>
            <a:endParaRPr lang="en-US" sz="1200" dirty="0"/>
          </a:p>
        </p:txBody>
      </p:sp>
      <p:sp>
        <p:nvSpPr>
          <p:cNvPr id="31" name="Flow 362"/>
          <p:cNvSpPr/>
          <p:nvPr/>
        </p:nvSpPr>
        <p:spPr>
          <a:xfrm>
            <a:off x="1188720" y="4338175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32" name="Text 363"/>
          <p:cNvSpPr txBox="1"/>
          <p:nvPr/>
        </p:nvSpPr>
        <p:spPr>
          <a:xfrm>
            <a:off x="1417320" y="4365607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A_blackLevelAbsolute, A_blackLevelStepSize, A_blackLevelState</a:t>
            </a:r>
            <a:endParaRPr lang="en-US" sz="1100" dirty="0"/>
          </a:p>
        </p:txBody>
      </p:sp>
      <p:sp>
        <p:nvSpPr>
          <p:cNvPr id="33" name="Text 364"/>
          <p:cNvSpPr txBox="1"/>
          <p:nvPr/>
        </p:nvSpPr>
        <p:spPr>
          <a:xfrm>
            <a:off x="1417320" y="4574613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Video__Polarity</a:t>
            </a:r>
            <a:endParaRPr lang="en-US" sz="1300" dirty="0"/>
          </a:p>
        </p:txBody>
      </p:sp>
      <p:sp>
        <p:nvSpPr>
          <p:cNvPr id="34" name="Text 365"/>
          <p:cNvSpPr txBox="1"/>
          <p:nvPr/>
        </p:nvSpPr>
        <p:spPr>
          <a:xfrm>
            <a:off x="7388352" y="4574613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현재 극성</a:t>
            </a:r>
            <a:endParaRPr lang="en-US" sz="1200" dirty="0"/>
          </a:p>
        </p:txBody>
      </p:sp>
      <p:sp>
        <p:nvSpPr>
          <p:cNvPr id="35" name="Flow 366"/>
          <p:cNvSpPr/>
          <p:nvPr/>
        </p:nvSpPr>
        <p:spPr>
          <a:xfrm>
            <a:off x="1188720" y="4858077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36" name="Text 367"/>
          <p:cNvSpPr txBox="1"/>
          <p:nvPr/>
        </p:nvSpPr>
        <p:spPr>
          <a:xfrm>
            <a:off x="1417320" y="4885509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A_videoPolarityStatus</a:t>
            </a:r>
            <a:endParaRPr lang="en-US" sz="1100" dirty="0"/>
          </a:p>
        </p:txBody>
      </p:sp>
      <p:sp>
        <p:nvSpPr>
          <p:cNvPr id="37" name="Divider 368"/>
          <p:cNvSpPr/>
          <p:nvPr/>
        </p:nvSpPr>
        <p:spPr>
          <a:xfrm>
            <a:off x="457200" y="5112802"/>
            <a:ext cx="11274552" cy="0"/>
          </a:xfrm>
          <a:prstGeom prst="line">
            <a:avLst/>
          </a:prstGeom>
          <a:noFill/>
          <a:ln w="6350">
            <a:solidFill>
              <a:schemeClr val="accent5"/>
            </a:solidFill>
            <a:prstDash val="sysDash"/>
          </a:ln>
        </p:spPr>
      </p:sp>
      <p:sp>
        <p:nvSpPr>
          <p:cNvPr id="38" name="Text 369"/>
          <p:cNvSpPr txBox="1"/>
          <p:nvPr/>
        </p:nvSpPr>
        <p:spPr>
          <a:xfrm>
            <a:off x="1417320" y="514023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EQP02 추적 정보</a:t>
            </a:r>
            <a:endParaRPr lang="en-US" sz="1300" dirty="0"/>
          </a:p>
        </p:txBody>
      </p:sp>
      <p:sp>
        <p:nvSpPr>
          <p:cNvPr id="39" name="Text 370"/>
          <p:cNvSpPr txBox="1"/>
          <p:nvPr/>
        </p:nvSpPr>
        <p:spPr>
          <a:xfrm>
            <a:off x="1417320" y="540541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Video__Processing_Function</a:t>
            </a:r>
            <a:endParaRPr lang="en-US" sz="1300" dirty="0"/>
          </a:p>
        </p:txBody>
      </p:sp>
      <p:sp>
        <p:nvSpPr>
          <p:cNvPr id="40" name="Text 371"/>
          <p:cNvSpPr txBox="1"/>
          <p:nvPr/>
        </p:nvSpPr>
        <p:spPr>
          <a:xfrm>
            <a:off x="7388352" y="540541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추적 정보 (임시 사용)</a:t>
            </a:r>
            <a:endParaRPr lang="en-US" sz="1200" dirty="0"/>
          </a:p>
        </p:txBody>
      </p:sp>
      <p:sp>
        <p:nvSpPr>
          <p:cNvPr id="41" name="Flow 372"/>
          <p:cNvSpPr/>
          <p:nvPr/>
        </p:nvSpPr>
        <p:spPr>
          <a:xfrm>
            <a:off x="1188720" y="568887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42" name="Text 373"/>
          <p:cNvSpPr txBox="1"/>
          <p:nvPr/>
        </p:nvSpPr>
        <p:spPr>
          <a:xfrm>
            <a:off x="1417320" y="571630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A_imageProcessingFunction, A_imageProcessingMode, A_imageProcessingParameters</a:t>
            </a:r>
            <a:endParaRPr lang="en-US" sz="1100" dirty="0"/>
          </a:p>
        </p:txBody>
      </p:sp>
      <p:sp>
        <p:nvSpPr>
          <p:cNvPr id="43" name="Text 374"/>
          <p:cNvSpPr txBox="1"/>
          <p:nvPr/>
        </p:nvSpPr>
        <p:spPr>
          <a:xfrm>
            <a:off x="457200" y="612648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추적 정보는 Processing_Function에 값을 나열해 넣는 방식으로 임시 사용 중</a:t>
            </a:r>
            <a:endParaRPr lang="en-US" sz="1100" dirty="0"/>
          </a:p>
        </p:txBody>
      </p:sp>
      <p:sp>
        <p:nvSpPr>
          <p:cNvPr id="44" name="Flow 375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Text 376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46" name="Flow 377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47" name="Text 378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2.11  HMI_Input_Devices</a:t>
            </a:r>
            <a:endParaRPr lang="en-US" sz="2200" dirty="0"/>
          </a:p>
        </p:txBody>
      </p:sp>
      <p:sp>
        <p:nvSpPr>
          <p:cNvPr id="3" name="Lifeline 379"/>
          <p:cNvSpPr/>
          <p:nvPr/>
        </p:nvSpPr>
        <p:spPr>
          <a:xfrm>
            <a:off x="1188720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380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81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382"/>
          <p:cNvSpPr/>
          <p:nvPr/>
        </p:nvSpPr>
        <p:spPr>
          <a:xfrm>
            <a:off x="11000232" y="1389888"/>
            <a:ext cx="0" cy="2496312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383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384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385"/>
          <p:cNvSpPr/>
          <p:nvPr/>
        </p:nvSpPr>
        <p:spPr>
          <a:xfrm>
            <a:off x="457200" y="1554480"/>
            <a:ext cx="11274552" cy="219456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0" name="Module tab 386"/>
          <p:cNvSpPr/>
          <p:nvPr/>
        </p:nvSpPr>
        <p:spPr>
          <a:xfrm>
            <a:off x="457200" y="1554480"/>
            <a:ext cx="1860194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387"/>
          <p:cNvSpPr txBox="1"/>
          <p:nvPr/>
        </p:nvSpPr>
        <p:spPr>
          <a:xfrm>
            <a:off x="457200" y="1554480"/>
            <a:ext cx="1860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HMI_Input_Devices</a:t>
            </a:r>
            <a:endParaRPr lang="en-US" sz="1300" dirty="0"/>
          </a:p>
        </p:txBody>
      </p:sp>
      <p:sp>
        <p:nvSpPr>
          <p:cNvPr id="12" name="Text 388"/>
          <p:cNvSpPr txBox="1"/>
          <p:nvPr/>
        </p:nvSpPr>
        <p:spPr>
          <a:xfrm>
            <a:off x="2481986" y="1554480"/>
            <a:ext cx="90485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핸들 등 EQP08 장착 장비 입력</a:t>
            </a:r>
            <a:endParaRPr lang="en-US" sz="1300" dirty="0"/>
          </a:p>
        </p:txBody>
      </p:sp>
      <p:sp>
        <p:nvSpPr>
          <p:cNvPr id="13" name="Text 389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HMI_Input_Devices__Axis</a:t>
            </a:r>
            <a:endParaRPr lang="en-US" sz="1300" dirty="0"/>
          </a:p>
        </p:txBody>
      </p:sp>
      <p:sp>
        <p:nvSpPr>
          <p:cNvPr id="14" name="Text 390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축 입력 값</a:t>
            </a:r>
            <a:endParaRPr lang="en-US" sz="1200" dirty="0"/>
          </a:p>
        </p:txBody>
      </p:sp>
      <p:sp>
        <p:nvSpPr>
          <p:cNvPr id="15" name="Flow 391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6" name="Text 392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A_value</a:t>
            </a:r>
            <a:endParaRPr lang="en-US" sz="1100" dirty="0"/>
          </a:p>
        </p:txBody>
      </p:sp>
      <p:sp>
        <p:nvSpPr>
          <p:cNvPr id="17" name="Text 393"/>
          <p:cNvSpPr txBox="1"/>
          <p:nvPr/>
        </p:nvSpPr>
        <p:spPr>
          <a:xfrm>
            <a:off x="141732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HMI_Input_Devices__Multi_Position_Switch</a:t>
            </a:r>
            <a:endParaRPr lang="en-US" sz="1300" dirty="0"/>
          </a:p>
        </p:txBody>
      </p:sp>
      <p:sp>
        <p:nvSpPr>
          <p:cNvPr id="18" name="Text 394"/>
          <p:cNvSpPr txBox="1"/>
          <p:nvPr/>
        </p:nvSpPr>
        <p:spPr>
          <a:xfrm>
            <a:off x="7388352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스위치 현재 위치</a:t>
            </a:r>
            <a:endParaRPr lang="en-US" sz="1200" dirty="0"/>
          </a:p>
        </p:txBody>
      </p:sp>
      <p:sp>
        <p:nvSpPr>
          <p:cNvPr id="19" name="Flow 395"/>
          <p:cNvSpPr/>
          <p:nvPr/>
        </p:nvSpPr>
        <p:spPr>
          <a:xfrm>
            <a:off x="1188720" y="2843784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0" name="Text 396"/>
          <p:cNvSpPr txBox="1"/>
          <p:nvPr/>
        </p:nvSpPr>
        <p:spPr>
          <a:xfrm>
            <a:off x="1417320" y="2871216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A_currentPosition_sourceID</a:t>
            </a:r>
            <a:endParaRPr lang="en-US" sz="1100" dirty="0"/>
          </a:p>
        </p:txBody>
      </p:sp>
      <p:sp>
        <p:nvSpPr>
          <p:cNvPr id="21" name="Text 397"/>
          <p:cNvSpPr txBox="1"/>
          <p:nvPr/>
        </p:nvSpPr>
        <p:spPr>
          <a:xfrm>
            <a:off x="1417320" y="314553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HMI_Input_Devices__Hand_Controller_Button</a:t>
            </a:r>
            <a:endParaRPr lang="en-US" sz="1300" dirty="0"/>
          </a:p>
        </p:txBody>
      </p:sp>
      <p:sp>
        <p:nvSpPr>
          <p:cNvPr id="22" name="Text 398"/>
          <p:cNvSpPr txBox="1"/>
          <p:nvPr/>
        </p:nvSpPr>
        <p:spPr>
          <a:xfrm>
            <a:off x="7388352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핸드 컨트롤러 버튼 상태</a:t>
            </a:r>
            <a:endParaRPr lang="en-US" sz="1200" dirty="0"/>
          </a:p>
        </p:txBody>
      </p:sp>
      <p:sp>
        <p:nvSpPr>
          <p:cNvPr id="23" name="Flow 399"/>
          <p:cNvSpPr/>
          <p:nvPr/>
        </p:nvSpPr>
        <p:spPr>
          <a:xfrm>
            <a:off x="1188720" y="3429000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4" name="Text 400"/>
          <p:cNvSpPr txBox="1"/>
          <p:nvPr/>
        </p:nvSpPr>
        <p:spPr>
          <a:xfrm>
            <a:off x="1417320" y="3456432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필드  A_actualHandControllerState</a:t>
            </a:r>
            <a:endParaRPr lang="en-US" sz="1100" dirty="0"/>
          </a:p>
        </p:txBody>
      </p:sp>
      <p:sp>
        <p:nvSpPr>
          <p:cNvPr id="25" name="Flow 401"/>
          <p:cNvSpPr/>
          <p:nvPr/>
        </p:nvSpPr>
        <p:spPr>
          <a:xfrm>
            <a:off x="763524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402"/>
          <p:cNvSpPr txBox="1"/>
          <p:nvPr/>
        </p:nvSpPr>
        <p:spPr>
          <a:xfrm>
            <a:off x="8275320" y="4389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Command</a:t>
            </a:r>
            <a:endParaRPr lang="en-US" sz="1000" dirty="0"/>
          </a:p>
        </p:txBody>
      </p:sp>
      <p:sp>
        <p:nvSpPr>
          <p:cNvPr id="27" name="Flow 403"/>
          <p:cNvSpPr/>
          <p:nvPr/>
        </p:nvSpPr>
        <p:spPr>
          <a:xfrm>
            <a:off x="9326880" y="548640"/>
            <a:ext cx="5486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8" name="Text 404"/>
          <p:cNvSpPr txBox="1"/>
          <p:nvPr/>
        </p:nvSpPr>
        <p:spPr>
          <a:xfrm>
            <a:off x="9966960" y="4389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State, Event, Alarm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3.1  Access_Permissions (NGVA 외)</a:t>
            </a:r>
            <a:endParaRPr lang="en-US" sz="2200" dirty="0"/>
          </a:p>
        </p:txBody>
      </p:sp>
      <p:sp>
        <p:nvSpPr>
          <p:cNvPr id="3" name="Lifeline 405"/>
          <p:cNvSpPr/>
          <p:nvPr/>
        </p:nvSpPr>
        <p:spPr>
          <a:xfrm>
            <a:off x="1188720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406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407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408"/>
          <p:cNvSpPr/>
          <p:nvPr/>
        </p:nvSpPr>
        <p:spPr>
          <a:xfrm>
            <a:off x="11000232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409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10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411"/>
          <p:cNvSpPr/>
          <p:nvPr/>
        </p:nvSpPr>
        <p:spPr>
          <a:xfrm>
            <a:off x="457200" y="1554480"/>
            <a:ext cx="11274552" cy="1024128"/>
          </a:xfrm>
          <a:prstGeom prst="rect">
            <a:avLst/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Module tab 412"/>
          <p:cNvSpPr/>
          <p:nvPr/>
        </p:nvSpPr>
        <p:spPr>
          <a:xfrm>
            <a:off x="457200" y="1554480"/>
            <a:ext cx="1951330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11" name="Text 413"/>
          <p:cNvSpPr txBox="1"/>
          <p:nvPr/>
        </p:nvSpPr>
        <p:spPr>
          <a:xfrm>
            <a:off x="457200" y="1554480"/>
            <a:ext cx="19513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Access_Permissions</a:t>
            </a:r>
            <a:endParaRPr lang="en-US" sz="1300" dirty="0"/>
          </a:p>
        </p:txBody>
      </p:sp>
      <p:sp>
        <p:nvSpPr>
          <p:cNvPr id="12" name="Text 414"/>
          <p:cNvSpPr txBox="1"/>
          <p:nvPr/>
        </p:nvSpPr>
        <p:spPr>
          <a:xfrm>
            <a:off x="2573122" y="1554480"/>
            <a:ext cx="89574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계정 관리 / 로그인</a:t>
            </a:r>
            <a:endParaRPr lang="en-US" sz="1300" dirty="0"/>
          </a:p>
        </p:txBody>
      </p:sp>
      <p:sp>
        <p:nvSpPr>
          <p:cNvPr id="13" name="Text 415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토픽 정의 [확인 필요]</a:t>
            </a:r>
            <a:endParaRPr lang="en-US" sz="1300" dirty="0"/>
          </a:p>
        </p:txBody>
      </p:sp>
      <p:sp>
        <p:nvSpPr>
          <p:cNvPr id="14" name="Text 416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방향 [확인 필요]</a:t>
            </a:r>
            <a:endParaRPr lang="en-US" sz="1200" dirty="0"/>
          </a:p>
        </p:txBody>
      </p:sp>
      <p:sp>
        <p:nvSpPr>
          <p:cNvPr id="15" name="Flow 417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6" name="Text 418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NGVA Data Model v1.1 RMDP에 정의가 없는 모듈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3.2  Actuator (NGVA 외)</a:t>
            </a:r>
            <a:endParaRPr lang="en-US" sz="2200" dirty="0"/>
          </a:p>
        </p:txBody>
      </p:sp>
      <p:sp>
        <p:nvSpPr>
          <p:cNvPr id="3" name="Lifeline 419"/>
          <p:cNvSpPr/>
          <p:nvPr/>
        </p:nvSpPr>
        <p:spPr>
          <a:xfrm>
            <a:off x="1188720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420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421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422"/>
          <p:cNvSpPr/>
          <p:nvPr/>
        </p:nvSpPr>
        <p:spPr>
          <a:xfrm>
            <a:off x="11000232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423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24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425"/>
          <p:cNvSpPr/>
          <p:nvPr/>
        </p:nvSpPr>
        <p:spPr>
          <a:xfrm>
            <a:off x="457200" y="1554480"/>
            <a:ext cx="11274552" cy="1024128"/>
          </a:xfrm>
          <a:prstGeom prst="rect">
            <a:avLst/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Module tab 426"/>
          <p:cNvSpPr/>
          <p:nvPr/>
        </p:nvSpPr>
        <p:spPr>
          <a:xfrm>
            <a:off x="457200" y="1554480"/>
            <a:ext cx="1039978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11" name="Text 427"/>
          <p:cNvSpPr txBox="1"/>
          <p:nvPr/>
        </p:nvSpPr>
        <p:spPr>
          <a:xfrm>
            <a:off x="457200" y="1554480"/>
            <a:ext cx="1039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Actuator</a:t>
            </a:r>
            <a:endParaRPr lang="en-US" sz="1300" dirty="0"/>
          </a:p>
        </p:txBody>
      </p:sp>
      <p:sp>
        <p:nvSpPr>
          <p:cNvPr id="12" name="Text 428"/>
          <p:cNvSpPr txBox="1"/>
          <p:nvPr/>
        </p:nvSpPr>
        <p:spPr>
          <a:xfrm>
            <a:off x="1661770" y="1554480"/>
            <a:ext cx="9868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양방향 제어 정보</a:t>
            </a:r>
            <a:endParaRPr lang="en-US" sz="1300" dirty="0"/>
          </a:p>
        </p:txBody>
      </p:sp>
      <p:sp>
        <p:nvSpPr>
          <p:cNvPr id="13" name="Text 429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토픽 정의 [확인 필요]</a:t>
            </a:r>
            <a:endParaRPr lang="en-US" sz="1300" dirty="0"/>
          </a:p>
        </p:txBody>
      </p:sp>
      <p:sp>
        <p:nvSpPr>
          <p:cNvPr id="14" name="Text 430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EQP08 ↔ EQP09</a:t>
            </a:r>
            <a:endParaRPr lang="en-US" sz="1200" dirty="0"/>
          </a:p>
        </p:txBody>
      </p:sp>
      <p:sp>
        <p:nvSpPr>
          <p:cNvPr id="15" name="Flow 431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6" name="Text 432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NGVA Data Model v1.1 RMDP에 정의가 없는 모듈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3.3  Sensors (NGVA 외)</a:t>
            </a:r>
            <a:endParaRPr lang="en-US" sz="2200" dirty="0"/>
          </a:p>
        </p:txBody>
      </p:sp>
      <p:sp>
        <p:nvSpPr>
          <p:cNvPr id="3" name="Lifeline 433"/>
          <p:cNvSpPr/>
          <p:nvPr/>
        </p:nvSpPr>
        <p:spPr>
          <a:xfrm>
            <a:off x="1188720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" name="Equipment 434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435"/>
          <p:cNvSpPr txBox="1"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EQP08</a:t>
            </a:r>
            <a:endParaRPr lang="en-US" sz="1400" dirty="0"/>
          </a:p>
        </p:txBody>
      </p:sp>
      <p:sp>
        <p:nvSpPr>
          <p:cNvPr id="6" name="Lifeline 436"/>
          <p:cNvSpPr/>
          <p:nvPr/>
        </p:nvSpPr>
        <p:spPr>
          <a:xfrm>
            <a:off x="11000232" y="1389888"/>
            <a:ext cx="0" cy="13258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Equipment 437"/>
          <p:cNvSpPr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38"/>
          <p:cNvSpPr txBox="1"/>
          <p:nvPr/>
        </p:nvSpPr>
        <p:spPr>
          <a:xfrm>
            <a:off x="10268712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EQP09</a:t>
            </a:r>
            <a:endParaRPr lang="en-US" sz="1400" dirty="0"/>
          </a:p>
        </p:txBody>
      </p:sp>
      <p:sp>
        <p:nvSpPr>
          <p:cNvPr id="9" name="Module frame 439"/>
          <p:cNvSpPr/>
          <p:nvPr/>
        </p:nvSpPr>
        <p:spPr>
          <a:xfrm>
            <a:off x="457200" y="1554480"/>
            <a:ext cx="11274552" cy="1024128"/>
          </a:xfrm>
          <a:prstGeom prst="rect">
            <a:avLst/>
          </a:prstGeom>
          <a:ln w="9525">
            <a:solidFill>
              <a:schemeClr val="accent5"/>
            </a:solidFill>
            <a:prstDash val="dash"/>
          </a:ln>
        </p:spPr>
      </p:sp>
      <p:sp>
        <p:nvSpPr>
          <p:cNvPr id="10" name="Module tab 440"/>
          <p:cNvSpPr/>
          <p:nvPr/>
        </p:nvSpPr>
        <p:spPr>
          <a:xfrm>
            <a:off x="457200" y="1554480"/>
            <a:ext cx="948842" cy="3474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11" name="Text 441"/>
          <p:cNvSpPr txBox="1"/>
          <p:nvPr/>
        </p:nvSpPr>
        <p:spPr>
          <a:xfrm>
            <a:off x="457200" y="1554480"/>
            <a:ext cx="9488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Sensors</a:t>
            </a:r>
            <a:endParaRPr lang="en-US" sz="1300" dirty="0"/>
          </a:p>
        </p:txBody>
      </p:sp>
      <p:sp>
        <p:nvSpPr>
          <p:cNvPr id="12" name="Text 442"/>
          <p:cNvSpPr txBox="1"/>
          <p:nvPr/>
        </p:nvSpPr>
        <p:spPr>
          <a:xfrm>
            <a:off x="1570634" y="1554480"/>
            <a:ext cx="99599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단방향 상태 정보</a:t>
            </a:r>
            <a:endParaRPr lang="en-US" sz="1300" dirty="0"/>
          </a:p>
        </p:txBody>
      </p:sp>
      <p:sp>
        <p:nvSpPr>
          <p:cNvPr id="13" name="Text 443"/>
          <p:cNvSpPr txBox="1"/>
          <p:nvPr/>
        </p:nvSpPr>
        <p:spPr>
          <a:xfrm>
            <a:off x="1417320" y="19751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토픽 정의 [확인 필요]</a:t>
            </a:r>
            <a:endParaRPr lang="en-US" sz="1300" dirty="0"/>
          </a:p>
        </p:txBody>
      </p:sp>
      <p:sp>
        <p:nvSpPr>
          <p:cNvPr id="14" name="Text 444"/>
          <p:cNvSpPr txBox="1"/>
          <p:nvPr/>
        </p:nvSpPr>
        <p:spPr>
          <a:xfrm>
            <a:off x="7388352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단방향, 방향 [확인 필요]</a:t>
            </a:r>
            <a:endParaRPr lang="en-US" sz="1200" dirty="0"/>
          </a:p>
        </p:txBody>
      </p:sp>
      <p:sp>
        <p:nvSpPr>
          <p:cNvPr id="15" name="Flow 445"/>
          <p:cNvSpPr/>
          <p:nvPr/>
        </p:nvSpPr>
        <p:spPr>
          <a:xfrm>
            <a:off x="1188720" y="2258568"/>
            <a:ext cx="981151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6" name="Text 446"/>
          <p:cNvSpPr txBox="1"/>
          <p:nvPr/>
        </p:nvSpPr>
        <p:spPr>
          <a:xfrm>
            <a:off x="1417320" y="2286000"/>
            <a:ext cx="9354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NGVA Data Model v1.1 RMDP에 정의가 없는 모듈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GVA Tech Note">
  <a:themeElements>
    <a:clrScheme name="NGVA Tech Note">
      <a:dk1>
        <a:srgbClr val="1A1A1A"/>
      </a:dk1>
      <a:lt1>
        <a:srgbClr val="FFFFFF"/>
      </a:lt1>
      <a:dk2>
        <a:srgbClr val="1A1A1A"/>
      </a:dk2>
      <a:lt2>
        <a:srgbClr val="EDEDED"/>
      </a:lt2>
      <a:accent1>
        <a:srgbClr val="E4EAF1"/>
      </a:accent1>
      <a:accent2>
        <a:srgbClr val="333333"/>
      </a:accent2>
      <a:accent3>
        <a:srgbClr val="595959"/>
      </a:accent3>
      <a:accent4>
        <a:srgbClr val="8C8C8C"/>
      </a:accent4>
      <a:accent5>
        <a:srgbClr val="A6A6A6"/>
      </a:accent5>
      <a:accent6>
        <a:srgbClr val="D0D0D0"/>
      </a:accent6>
      <a:hlink>
        <a:srgbClr val="1A1A1A"/>
      </a:hlink>
      <a:folHlink>
        <a:srgbClr val="595959"/>
      </a:folHlink>
    </a:clrScheme>
    <a:fontScheme name="NGVA Tech Not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Microsoft Office PowerPoint</Application>
  <PresentationFormat>와이드스크린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NGVA Tech Note</vt:lpstr>
      <vt:lpstr>NGVA 데이터 교환 구조</vt:lpstr>
      <vt:lpstr>1  전체 데이터 교환 구조</vt:lpstr>
      <vt:lpstr>2.1  Vehicle_Configuration</vt:lpstr>
      <vt:lpstr>2.2  Power</vt:lpstr>
      <vt:lpstr>2.3  Usage_And_Condition_Monitoring</vt:lpstr>
      <vt:lpstr>2.4  Alarms</vt:lpstr>
      <vt:lpstr>2.5  Mount</vt:lpstr>
      <vt:lpstr>2.6  LRF</vt:lpstr>
      <vt:lpstr>2.7  Navigation_Reference</vt:lpstr>
      <vt:lpstr>2.8  Tactical_Sensor</vt:lpstr>
      <vt:lpstr>2.9  Laser_Warning_System</vt:lpstr>
      <vt:lpstr>2.10  Video</vt:lpstr>
      <vt:lpstr>2.11  HMI_Input_Devices</vt:lpstr>
      <vt:lpstr>3.1  Access_Permissions (NGVA 외)</vt:lpstr>
      <vt:lpstr>3.2  Actuator (NGVA 외)</vt:lpstr>
      <vt:lpstr>3.3  Sensors (NGVA 외)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NGVA 데이터 교환 구조: EQP08 - EQP09</dc:title>
  <dc:subject>PptxGenJS Presentation</dc:subject>
  <dc:creator/>
  <cp:lastModifiedBy/>
  <cp:revision>1</cp:revision>
  <dcterms:created xsi:type="dcterms:W3CDTF">2026-10-07T06:34:25Z</dcterms:created>
  <dcterms:modified xsi:type="dcterms:W3CDTF">2026-10-07T06:34:30Z</dcterms:modified>
</cp:coreProperties>
</file>